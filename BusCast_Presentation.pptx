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71" r:id="rId3"/>
    <p:sldId id="258" r:id="rId4"/>
    <p:sldId id="270" r:id="rId5"/>
    <p:sldId id="269" r:id="rId6"/>
    <p:sldId id="259" r:id="rId7"/>
    <p:sldId id="260" r:id="rId8"/>
    <p:sldId id="268" r:id="rId9"/>
    <p:sldId id="267" r:id="rId10"/>
    <p:sldId id="261" r:id="rId11"/>
    <p:sldId id="266" r:id="rId12"/>
    <p:sldId id="265" r:id="rId13"/>
    <p:sldId id="263" r:id="rId14"/>
    <p:sldId id="264" r:id="rId15"/>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50" d="100"/>
          <a:sy n="50" d="100"/>
        </p:scale>
        <p:origin x="946" y="12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4800" b="1" i="0">
                <a:solidFill>
                  <a:srgbClr val="6F2FA0"/>
                </a:solidFill>
                <a:latin typeface="Times New Roman"/>
                <a:cs typeface="Times New Roman"/>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32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rgbClr val="6F2FA0"/>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32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rgbClr val="6F2FA0"/>
                </a:solidFill>
                <a:latin typeface="Times New Roman"/>
                <a:cs typeface="Times New Roman"/>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10/28/2026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8288000" cy="10286999"/>
          </a:xfrm>
          <a:prstGeom prst="rect">
            <a:avLst/>
          </a:prstGeom>
        </p:spPr>
      </p:pic>
      <p:sp>
        <p:nvSpPr>
          <p:cNvPr id="2" name="Holder 2"/>
          <p:cNvSpPr>
            <a:spLocks noGrp="1"/>
          </p:cNvSpPr>
          <p:nvPr>
            <p:ph type="title"/>
          </p:nvPr>
        </p:nvSpPr>
        <p:spPr/>
        <p:txBody>
          <a:bodyPr lIns="0" tIns="0" rIns="0" bIns="0"/>
          <a:lstStyle>
            <a:lvl1pPr>
              <a:defRPr sz="4800" b="1" i="0">
                <a:solidFill>
                  <a:srgbClr val="6F2FA0"/>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10/28/2026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090061" y="254212"/>
            <a:ext cx="13759463" cy="1711547"/>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202489" y="748366"/>
            <a:ext cx="9883020" cy="1382216"/>
          </a:xfrm>
          <a:prstGeom prst="rect">
            <a:avLst/>
          </a:prstGeom>
        </p:spPr>
        <p:txBody>
          <a:bodyPr wrap="square" lIns="0" tIns="0" rIns="0" bIns="0">
            <a:spAutoFit/>
          </a:bodyPr>
          <a:lstStyle>
            <a:lvl1pPr>
              <a:defRPr sz="4800" b="1" i="0">
                <a:solidFill>
                  <a:srgbClr val="6F2FA0"/>
                </a:solidFill>
                <a:latin typeface="Times New Roman"/>
                <a:cs typeface="Times New Roman"/>
              </a:defRPr>
            </a:lvl1pPr>
          </a:lstStyle>
          <a:p>
            <a:endParaRPr/>
          </a:p>
        </p:txBody>
      </p:sp>
      <p:sp>
        <p:nvSpPr>
          <p:cNvPr id="3" name="Holder 3"/>
          <p:cNvSpPr>
            <a:spLocks noGrp="1"/>
          </p:cNvSpPr>
          <p:nvPr>
            <p:ph type="body" idx="1"/>
          </p:nvPr>
        </p:nvSpPr>
        <p:spPr>
          <a:xfrm>
            <a:off x="1955796" y="2650547"/>
            <a:ext cx="14376406" cy="4894580"/>
          </a:xfrm>
          <a:prstGeom prst="rect">
            <a:avLst/>
          </a:prstGeom>
        </p:spPr>
        <p:txBody>
          <a:bodyPr wrap="square" lIns="0" tIns="0" rIns="0" bIns="0">
            <a:spAutoFit/>
          </a:bodyPr>
          <a:lstStyle>
            <a:lvl1pPr>
              <a:defRPr sz="32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10/28/2026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977267" y="4712299"/>
            <a:ext cx="3208655" cy="1236980"/>
          </a:xfrm>
          <a:prstGeom prst="rect">
            <a:avLst/>
          </a:prstGeom>
        </p:spPr>
        <p:txBody>
          <a:bodyPr vert="horz" wrap="square" lIns="0" tIns="88900" rIns="0" bIns="0" rtlCol="0">
            <a:spAutoFit/>
          </a:bodyPr>
          <a:lstStyle/>
          <a:p>
            <a:pPr marL="216535" marR="5080" indent="-204470">
              <a:lnSpc>
                <a:spcPts val="4500"/>
              </a:lnSpc>
              <a:spcBef>
                <a:spcPts val="700"/>
              </a:spcBef>
            </a:pPr>
            <a:r>
              <a:rPr sz="4200" b="1" dirty="0">
                <a:latin typeface="Calibri"/>
                <a:cs typeface="Calibri"/>
              </a:rPr>
              <a:t>Course name </a:t>
            </a:r>
            <a:r>
              <a:rPr sz="4200" b="1" spc="-50" dirty="0">
                <a:latin typeface="Calibri"/>
                <a:cs typeface="Calibri"/>
              </a:rPr>
              <a:t>: </a:t>
            </a:r>
            <a:r>
              <a:rPr sz="4200" b="1" dirty="0">
                <a:latin typeface="Calibri"/>
                <a:cs typeface="Calibri"/>
              </a:rPr>
              <a:t>Course</a:t>
            </a:r>
            <a:r>
              <a:rPr sz="4200" b="1" spc="-45" dirty="0">
                <a:latin typeface="Calibri"/>
                <a:cs typeface="Calibri"/>
              </a:rPr>
              <a:t> </a:t>
            </a:r>
            <a:r>
              <a:rPr sz="4200" b="1" dirty="0">
                <a:latin typeface="Calibri"/>
                <a:cs typeface="Calibri"/>
              </a:rPr>
              <a:t>code</a:t>
            </a:r>
            <a:r>
              <a:rPr sz="4200" b="1" spc="-40" dirty="0">
                <a:latin typeface="Calibri"/>
                <a:cs typeface="Calibri"/>
              </a:rPr>
              <a:t> </a:t>
            </a:r>
            <a:r>
              <a:rPr sz="4200" b="1" spc="-50" dirty="0">
                <a:latin typeface="Calibri"/>
                <a:cs typeface="Calibri"/>
              </a:rPr>
              <a:t>:</a:t>
            </a:r>
            <a:endParaRPr sz="4200">
              <a:latin typeface="Calibri"/>
              <a:cs typeface="Calibri"/>
            </a:endParaRPr>
          </a:p>
        </p:txBody>
      </p:sp>
      <p:sp>
        <p:nvSpPr>
          <p:cNvPr id="3" name="object 3"/>
          <p:cNvSpPr txBox="1"/>
          <p:nvPr/>
        </p:nvSpPr>
        <p:spPr>
          <a:xfrm>
            <a:off x="9746934" y="4712299"/>
            <a:ext cx="2846705" cy="1236980"/>
          </a:xfrm>
          <a:prstGeom prst="rect">
            <a:avLst/>
          </a:prstGeom>
        </p:spPr>
        <p:txBody>
          <a:bodyPr vert="horz" wrap="square" lIns="0" tIns="88900" rIns="0" bIns="0" rtlCol="0">
            <a:spAutoFit/>
          </a:bodyPr>
          <a:lstStyle/>
          <a:p>
            <a:pPr marL="269875" marR="5080" indent="-257810">
              <a:lnSpc>
                <a:spcPts val="4500"/>
              </a:lnSpc>
              <a:spcBef>
                <a:spcPts val="700"/>
              </a:spcBef>
            </a:pPr>
            <a:r>
              <a:rPr sz="4200" b="1" dirty="0">
                <a:latin typeface="Calibri"/>
                <a:cs typeface="Calibri"/>
              </a:rPr>
              <a:t>Data </a:t>
            </a:r>
            <a:r>
              <a:rPr sz="4200" b="1" spc="-10" dirty="0">
                <a:latin typeface="Calibri"/>
                <a:cs typeface="Calibri"/>
              </a:rPr>
              <a:t>Science</a:t>
            </a:r>
            <a:r>
              <a:rPr lang="en-IN" sz="4200" b="1" spc="-10" dirty="0">
                <a:latin typeface="Calibri"/>
                <a:cs typeface="Calibri"/>
              </a:rPr>
              <a:t> </a:t>
            </a:r>
            <a:r>
              <a:rPr sz="4200" b="1" spc="-10" dirty="0">
                <a:latin typeface="Calibri"/>
                <a:cs typeface="Calibri"/>
              </a:rPr>
              <a:t>U23AD491</a:t>
            </a:r>
            <a:endParaRPr sz="4200" dirty="0">
              <a:latin typeface="Calibri"/>
              <a:cs typeface="Calibri"/>
            </a:endParaRPr>
          </a:p>
        </p:txBody>
      </p:sp>
      <p:sp>
        <p:nvSpPr>
          <p:cNvPr id="4" name="object 4"/>
          <p:cNvSpPr txBox="1"/>
          <p:nvPr/>
        </p:nvSpPr>
        <p:spPr>
          <a:xfrm>
            <a:off x="2569549" y="6477567"/>
            <a:ext cx="13543280" cy="1051570"/>
          </a:xfrm>
          <a:prstGeom prst="rect">
            <a:avLst/>
          </a:prstGeom>
        </p:spPr>
        <p:txBody>
          <a:bodyPr vert="horz" wrap="square" lIns="0" tIns="12700" rIns="0" bIns="0" rtlCol="0">
            <a:spAutoFit/>
          </a:bodyPr>
          <a:lstStyle/>
          <a:p>
            <a:pPr marR="103505" algn="ctr">
              <a:lnSpc>
                <a:spcPts val="3975"/>
              </a:lnSpc>
              <a:spcBef>
                <a:spcPts val="100"/>
              </a:spcBef>
            </a:pPr>
            <a:r>
              <a:rPr sz="3500" b="1" dirty="0">
                <a:solidFill>
                  <a:srgbClr val="4E17E7"/>
                </a:solidFill>
                <a:latin typeface="Times New Roman"/>
                <a:cs typeface="Times New Roman"/>
              </a:rPr>
              <a:t>Title</a:t>
            </a:r>
            <a:r>
              <a:rPr sz="3500" b="1" spc="-45" dirty="0">
                <a:solidFill>
                  <a:srgbClr val="4E17E7"/>
                </a:solidFill>
                <a:latin typeface="Times New Roman"/>
                <a:cs typeface="Times New Roman"/>
              </a:rPr>
              <a:t> </a:t>
            </a:r>
            <a:r>
              <a:rPr sz="3500" b="1" dirty="0">
                <a:solidFill>
                  <a:srgbClr val="4E17E7"/>
                </a:solidFill>
                <a:latin typeface="Times New Roman"/>
                <a:cs typeface="Times New Roman"/>
              </a:rPr>
              <a:t>of</a:t>
            </a:r>
            <a:r>
              <a:rPr sz="3500" b="1" spc="-40" dirty="0">
                <a:solidFill>
                  <a:srgbClr val="4E17E7"/>
                </a:solidFill>
                <a:latin typeface="Times New Roman"/>
                <a:cs typeface="Times New Roman"/>
              </a:rPr>
              <a:t> </a:t>
            </a:r>
            <a:r>
              <a:rPr sz="3500" b="1" dirty="0">
                <a:solidFill>
                  <a:srgbClr val="4E17E7"/>
                </a:solidFill>
                <a:latin typeface="Times New Roman"/>
                <a:cs typeface="Times New Roman"/>
              </a:rPr>
              <a:t>the</a:t>
            </a:r>
            <a:r>
              <a:rPr sz="3500" b="1" spc="-45" dirty="0">
                <a:solidFill>
                  <a:srgbClr val="4E17E7"/>
                </a:solidFill>
                <a:latin typeface="Times New Roman"/>
                <a:cs typeface="Times New Roman"/>
              </a:rPr>
              <a:t> </a:t>
            </a:r>
            <a:r>
              <a:rPr sz="3500" b="1" dirty="0">
                <a:solidFill>
                  <a:srgbClr val="4E17E7"/>
                </a:solidFill>
                <a:latin typeface="Times New Roman"/>
                <a:cs typeface="Times New Roman"/>
              </a:rPr>
              <a:t>project</a:t>
            </a:r>
            <a:r>
              <a:rPr sz="3500" b="1" spc="-40" dirty="0">
                <a:solidFill>
                  <a:srgbClr val="4E17E7"/>
                </a:solidFill>
                <a:latin typeface="Times New Roman"/>
                <a:cs typeface="Times New Roman"/>
              </a:rPr>
              <a:t> </a:t>
            </a:r>
            <a:r>
              <a:rPr sz="3500" b="1" spc="-50" dirty="0">
                <a:solidFill>
                  <a:srgbClr val="4E17E7"/>
                </a:solidFill>
                <a:latin typeface="Times New Roman"/>
                <a:cs typeface="Times New Roman"/>
              </a:rPr>
              <a:t>:</a:t>
            </a:r>
            <a:endParaRPr sz="3500" dirty="0">
              <a:latin typeface="Times New Roman"/>
              <a:cs typeface="Times New Roman"/>
            </a:endParaRPr>
          </a:p>
          <a:p>
            <a:pPr marL="12700" marR="5080" algn="ctr">
              <a:lnSpc>
                <a:spcPts val="3750"/>
              </a:lnSpc>
              <a:spcBef>
                <a:spcPts val="275"/>
              </a:spcBef>
            </a:pPr>
            <a:r>
              <a:rPr lang="en-IN" sz="3500" b="1" dirty="0">
                <a:solidFill>
                  <a:srgbClr val="4E17E7"/>
                </a:solidFill>
                <a:latin typeface="Times New Roman"/>
                <a:cs typeface="Times New Roman"/>
              </a:rPr>
              <a:t>Bus Passenger Demand Prediction </a:t>
            </a:r>
            <a:endParaRPr sz="3500" dirty="0">
              <a:latin typeface="Times New Roman"/>
              <a:cs typeface="Times New Roman"/>
            </a:endParaRPr>
          </a:p>
        </p:txBody>
      </p:sp>
      <p:pic>
        <p:nvPicPr>
          <p:cNvPr id="5" name="object 5"/>
          <p:cNvPicPr/>
          <p:nvPr/>
        </p:nvPicPr>
        <p:blipFill>
          <a:blip r:embed="rId2" cstate="print"/>
          <a:stretch>
            <a:fillRect/>
          </a:stretch>
        </p:blipFill>
        <p:spPr>
          <a:xfrm>
            <a:off x="2507532" y="296385"/>
            <a:ext cx="14056165" cy="2693399"/>
          </a:xfrm>
          <a:prstGeom prst="rect">
            <a:avLst/>
          </a:prstGeom>
        </p:spPr>
      </p:pic>
      <p:sp>
        <p:nvSpPr>
          <p:cNvPr id="6" name="object 6" descr="$PPTXTitle"/>
          <p:cNvSpPr txBox="1">
            <a:spLocks noGrp="1"/>
          </p:cNvSpPr>
          <p:nvPr>
            <p:ph type="title"/>
          </p:nvPr>
        </p:nvSpPr>
        <p:spPr>
          <a:xfrm>
            <a:off x="2598962" y="3551805"/>
            <a:ext cx="12411710" cy="690880"/>
          </a:xfrm>
          <a:prstGeom prst="rect">
            <a:avLst/>
          </a:prstGeom>
          <a:solidFill>
            <a:srgbClr val="FFFF00"/>
          </a:solidFill>
        </p:spPr>
        <p:txBody>
          <a:bodyPr vert="horz" wrap="square" lIns="0" tIns="50165" rIns="0" bIns="0" rtlCol="0">
            <a:spAutoFit/>
          </a:bodyPr>
          <a:lstStyle/>
          <a:p>
            <a:pPr marL="1404620">
              <a:lnSpc>
                <a:spcPct val="100000"/>
              </a:lnSpc>
              <a:spcBef>
                <a:spcPts val="395"/>
              </a:spcBef>
              <a:tabLst>
                <a:tab pos="8766175" algn="l"/>
              </a:tabLst>
            </a:pPr>
            <a:r>
              <a:rPr sz="3600" dirty="0">
                <a:solidFill>
                  <a:srgbClr val="BF0000"/>
                </a:solidFill>
                <a:latin typeface="Calibri"/>
                <a:cs typeface="Calibri"/>
              </a:rPr>
              <a:t>Department</a:t>
            </a:r>
            <a:r>
              <a:rPr sz="3600" spc="-120" dirty="0">
                <a:solidFill>
                  <a:srgbClr val="BF0000"/>
                </a:solidFill>
                <a:latin typeface="Calibri"/>
                <a:cs typeface="Calibri"/>
              </a:rPr>
              <a:t> </a:t>
            </a:r>
            <a:r>
              <a:rPr sz="3600" dirty="0">
                <a:solidFill>
                  <a:srgbClr val="BF0000"/>
                </a:solidFill>
                <a:latin typeface="Calibri"/>
                <a:cs typeface="Calibri"/>
              </a:rPr>
              <a:t>of</a:t>
            </a:r>
            <a:r>
              <a:rPr sz="3600" spc="-120" dirty="0">
                <a:solidFill>
                  <a:srgbClr val="BF0000"/>
                </a:solidFill>
                <a:latin typeface="Calibri"/>
                <a:cs typeface="Calibri"/>
              </a:rPr>
              <a:t> </a:t>
            </a:r>
            <a:r>
              <a:rPr sz="3600" dirty="0">
                <a:solidFill>
                  <a:srgbClr val="BF0000"/>
                </a:solidFill>
                <a:latin typeface="Calibri"/>
                <a:cs typeface="Calibri"/>
              </a:rPr>
              <a:t>Computer</a:t>
            </a:r>
            <a:r>
              <a:rPr sz="3600" spc="-120" dirty="0">
                <a:solidFill>
                  <a:srgbClr val="BF0000"/>
                </a:solidFill>
                <a:latin typeface="Calibri"/>
                <a:cs typeface="Calibri"/>
              </a:rPr>
              <a:t> </a:t>
            </a:r>
            <a:r>
              <a:rPr sz="3600" dirty="0">
                <a:solidFill>
                  <a:srgbClr val="BF0000"/>
                </a:solidFill>
                <a:latin typeface="Calibri"/>
                <a:cs typeface="Calibri"/>
              </a:rPr>
              <a:t>Science</a:t>
            </a:r>
            <a:r>
              <a:rPr sz="3600" spc="-114" dirty="0">
                <a:solidFill>
                  <a:srgbClr val="BF0000"/>
                </a:solidFill>
                <a:latin typeface="Calibri"/>
                <a:cs typeface="Calibri"/>
              </a:rPr>
              <a:t> </a:t>
            </a:r>
            <a:r>
              <a:rPr sz="3600" spc="-25" dirty="0">
                <a:solidFill>
                  <a:srgbClr val="BF0000"/>
                </a:solidFill>
                <a:latin typeface="Calibri"/>
                <a:cs typeface="Calibri"/>
              </a:rPr>
              <a:t>and</a:t>
            </a:r>
            <a:r>
              <a:rPr sz="3600" dirty="0">
                <a:solidFill>
                  <a:srgbClr val="BF0000"/>
                </a:solidFill>
                <a:latin typeface="Calibri"/>
                <a:cs typeface="Calibri"/>
              </a:rPr>
              <a:t>	</a:t>
            </a:r>
            <a:r>
              <a:rPr sz="3600" spc="-10" dirty="0">
                <a:solidFill>
                  <a:srgbClr val="BF0000"/>
                </a:solidFill>
                <a:latin typeface="Calibri"/>
                <a:cs typeface="Calibri"/>
              </a:rPr>
              <a:t>Engineering</a:t>
            </a:r>
            <a:endParaRPr sz="3600">
              <a:latin typeface="Calibri"/>
              <a:cs typeface="Calibri"/>
            </a:endParaRPr>
          </a:p>
        </p:txBody>
      </p:sp>
      <p:sp>
        <p:nvSpPr>
          <p:cNvPr id="7" name="object 7"/>
          <p:cNvSpPr txBox="1"/>
          <p:nvPr/>
        </p:nvSpPr>
        <p:spPr>
          <a:xfrm>
            <a:off x="1244599" y="9493250"/>
            <a:ext cx="1092835" cy="299720"/>
          </a:xfrm>
          <a:prstGeom prst="rect">
            <a:avLst/>
          </a:prstGeom>
        </p:spPr>
        <p:txBody>
          <a:bodyPr vert="horz" wrap="square" lIns="0" tIns="12700" rIns="0" bIns="0" rtlCol="0">
            <a:spAutoFit/>
          </a:bodyPr>
          <a:lstStyle/>
          <a:p>
            <a:pPr marL="12700">
              <a:lnSpc>
                <a:spcPct val="100000"/>
              </a:lnSpc>
              <a:spcBef>
                <a:spcPts val="100"/>
              </a:spcBef>
            </a:pPr>
            <a:r>
              <a:rPr lang="en-IN" dirty="0">
                <a:solidFill>
                  <a:srgbClr val="898989"/>
                </a:solidFill>
                <a:latin typeface="Calibri"/>
                <a:cs typeface="Calibri"/>
              </a:rPr>
              <a:t>28-10</a:t>
            </a:r>
            <a:r>
              <a:rPr sz="1800" dirty="0">
                <a:solidFill>
                  <a:srgbClr val="898989"/>
                </a:solidFill>
                <a:latin typeface="Calibri"/>
                <a:cs typeface="Calibri"/>
              </a:rPr>
              <a:t>-</a:t>
            </a:r>
            <a:r>
              <a:rPr sz="1800" spc="-20" dirty="0">
                <a:solidFill>
                  <a:srgbClr val="898989"/>
                </a:solidFill>
                <a:latin typeface="Calibri"/>
                <a:cs typeface="Calibri"/>
              </a:rPr>
              <a:t>202</a:t>
            </a:r>
            <a:r>
              <a:rPr lang="en-IN" sz="1800" spc="-20" dirty="0">
                <a:solidFill>
                  <a:srgbClr val="898989"/>
                </a:solidFill>
                <a:latin typeface="Calibri"/>
                <a:cs typeface="Calibri"/>
              </a:rPr>
              <a:t>6</a:t>
            </a:r>
            <a:endParaRPr sz="1800" dirty="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CEF7770-48F3-7879-F074-D1DF767973F9}"/>
            </a:ext>
          </a:extLst>
        </p:cNvPr>
        <p:cNvGrpSpPr/>
        <p:nvPr/>
      </p:nvGrpSpPr>
      <p:grpSpPr>
        <a:xfrm>
          <a:off x="0" y="0"/>
          <a:ext cx="0" cy="0"/>
          <a:chOff x="0" y="0"/>
          <a:chExt cx="0" cy="0"/>
        </a:xfrm>
      </p:grpSpPr>
      <p:pic>
        <p:nvPicPr>
          <p:cNvPr id="5" name="object 5">
            <a:extLst>
              <a:ext uri="{FF2B5EF4-FFF2-40B4-BE49-F238E27FC236}">
                <a16:creationId xmlns:a16="http://schemas.microsoft.com/office/drawing/2014/main" id="{DADD533C-3E90-06C2-C4AC-FB19354632C4}"/>
              </a:ext>
            </a:extLst>
          </p:cNvPr>
          <p:cNvPicPr/>
          <p:nvPr/>
        </p:nvPicPr>
        <p:blipFill>
          <a:blip r:embed="rId2" cstate="print"/>
          <a:stretch>
            <a:fillRect/>
          </a:stretch>
        </p:blipFill>
        <p:spPr>
          <a:xfrm>
            <a:off x="2507533" y="296385"/>
            <a:ext cx="14027868" cy="2332515"/>
          </a:xfrm>
          <a:prstGeom prst="rect">
            <a:avLst/>
          </a:prstGeom>
        </p:spPr>
      </p:pic>
      <p:sp>
        <p:nvSpPr>
          <p:cNvPr id="7" name="object 7">
            <a:extLst>
              <a:ext uri="{FF2B5EF4-FFF2-40B4-BE49-F238E27FC236}">
                <a16:creationId xmlns:a16="http://schemas.microsoft.com/office/drawing/2014/main" id="{BC2283D4-DF69-1C9B-730D-12B33857C70E}"/>
              </a:ext>
            </a:extLst>
          </p:cNvPr>
          <p:cNvSpPr txBox="1"/>
          <p:nvPr/>
        </p:nvSpPr>
        <p:spPr>
          <a:xfrm>
            <a:off x="1244599" y="9493250"/>
            <a:ext cx="1092835" cy="299720"/>
          </a:xfrm>
          <a:prstGeom prst="rect">
            <a:avLst/>
          </a:prstGeom>
        </p:spPr>
        <p:txBody>
          <a:bodyPr vert="horz" wrap="square" lIns="0" tIns="12700" rIns="0" bIns="0" rtlCol="0">
            <a:spAutoFit/>
          </a:bodyPr>
          <a:lstStyle/>
          <a:p>
            <a:pPr marL="12700">
              <a:lnSpc>
                <a:spcPct val="100000"/>
              </a:lnSpc>
              <a:spcBef>
                <a:spcPts val="100"/>
              </a:spcBef>
            </a:pPr>
            <a:r>
              <a:rPr lang="en-IN" dirty="0">
                <a:solidFill>
                  <a:srgbClr val="898989"/>
                </a:solidFill>
                <a:latin typeface="Calibri"/>
                <a:cs typeface="Calibri"/>
              </a:rPr>
              <a:t>28-10</a:t>
            </a:r>
            <a:r>
              <a:rPr sz="1800" dirty="0">
                <a:solidFill>
                  <a:srgbClr val="898989"/>
                </a:solidFill>
                <a:latin typeface="Calibri"/>
                <a:cs typeface="Calibri"/>
              </a:rPr>
              <a:t>-</a:t>
            </a:r>
            <a:r>
              <a:rPr sz="1800" spc="-20" dirty="0">
                <a:solidFill>
                  <a:srgbClr val="898989"/>
                </a:solidFill>
                <a:latin typeface="Calibri"/>
                <a:cs typeface="Calibri"/>
              </a:rPr>
              <a:t>202</a:t>
            </a:r>
            <a:r>
              <a:rPr lang="en-IN" sz="1800" spc="-20" dirty="0">
                <a:solidFill>
                  <a:srgbClr val="898989"/>
                </a:solidFill>
                <a:latin typeface="Calibri"/>
                <a:cs typeface="Calibri"/>
              </a:rPr>
              <a:t>6</a:t>
            </a:r>
            <a:endParaRPr sz="1800" dirty="0">
              <a:latin typeface="Calibri"/>
              <a:cs typeface="Calibri"/>
            </a:endParaRPr>
          </a:p>
        </p:txBody>
      </p:sp>
      <p:sp>
        <p:nvSpPr>
          <p:cNvPr id="9" name="Title 8">
            <a:extLst>
              <a:ext uri="{FF2B5EF4-FFF2-40B4-BE49-F238E27FC236}">
                <a16:creationId xmlns:a16="http://schemas.microsoft.com/office/drawing/2014/main" id="{EAA0B4EC-F4C3-8A89-7698-2C6C5034EFA8}"/>
              </a:ext>
            </a:extLst>
          </p:cNvPr>
          <p:cNvSpPr>
            <a:spLocks noGrp="1"/>
          </p:cNvSpPr>
          <p:nvPr>
            <p:ph type="title"/>
          </p:nvPr>
        </p:nvSpPr>
        <p:spPr>
          <a:xfrm>
            <a:off x="4202489" y="748366"/>
            <a:ext cx="9883020" cy="3693319"/>
          </a:xfrm>
        </p:spPr>
        <p:txBody>
          <a:bodyPr/>
          <a:lstStyle/>
          <a:p>
            <a:br>
              <a:rPr lang="en-IN" dirty="0"/>
            </a:br>
            <a:br>
              <a:rPr lang="en-IN" dirty="0"/>
            </a:br>
            <a:br>
              <a:rPr lang="en-IN" dirty="0"/>
            </a:br>
            <a:br>
              <a:rPr lang="en-IN" dirty="0"/>
            </a:br>
            <a:endParaRPr lang="en-IN" dirty="0"/>
          </a:p>
        </p:txBody>
      </p:sp>
      <p:graphicFrame>
        <p:nvGraphicFramePr>
          <p:cNvPr id="11" name="Table 10">
            <a:extLst>
              <a:ext uri="{FF2B5EF4-FFF2-40B4-BE49-F238E27FC236}">
                <a16:creationId xmlns:a16="http://schemas.microsoft.com/office/drawing/2014/main" id="{841CAA2F-E3E6-7545-690F-4BBBA1567DC5}"/>
              </a:ext>
            </a:extLst>
          </p:cNvPr>
          <p:cNvGraphicFramePr>
            <a:graphicFrameLocks noGrp="1"/>
          </p:cNvGraphicFramePr>
          <p:nvPr>
            <p:extLst>
              <p:ext uri="{D42A27DB-BD31-4B8C-83A1-F6EECF244321}">
                <p14:modId xmlns:p14="http://schemas.microsoft.com/office/powerpoint/2010/main" val="3697069700"/>
              </p:ext>
            </p:extLst>
          </p:nvPr>
        </p:nvGraphicFramePr>
        <p:xfrm>
          <a:off x="2507532" y="3467101"/>
          <a:ext cx="13646866" cy="5437459"/>
        </p:xfrm>
        <a:graphic>
          <a:graphicData uri="http://schemas.openxmlformats.org/drawingml/2006/table">
            <a:tbl>
              <a:tblPr firstRow="1" bandRow="1">
                <a:tableStyleId>{5C22544A-7EE6-4342-B048-85BDC9FD1C3A}</a:tableStyleId>
              </a:tblPr>
              <a:tblGrid>
                <a:gridCol w="6823433">
                  <a:extLst>
                    <a:ext uri="{9D8B030D-6E8A-4147-A177-3AD203B41FA5}">
                      <a16:colId xmlns:a16="http://schemas.microsoft.com/office/drawing/2014/main" val="3378408950"/>
                    </a:ext>
                  </a:extLst>
                </a:gridCol>
                <a:gridCol w="6823433">
                  <a:extLst>
                    <a:ext uri="{9D8B030D-6E8A-4147-A177-3AD203B41FA5}">
                      <a16:colId xmlns:a16="http://schemas.microsoft.com/office/drawing/2014/main" val="2419448226"/>
                    </a:ext>
                  </a:extLst>
                </a:gridCol>
              </a:tblGrid>
              <a:tr h="838199">
                <a:tc>
                  <a:txBody>
                    <a:bodyPr/>
                    <a:lstStyle/>
                    <a:p>
                      <a:r>
                        <a:rPr lang="en-IN" sz="2800" dirty="0">
                          <a:latin typeface="Times New Roman" panose="02020603050405020304" pitchFamily="18" charset="0"/>
                          <a:cs typeface="Times New Roman" panose="02020603050405020304" pitchFamily="18" charset="0"/>
                        </a:rPr>
                        <a:t>Class / Section / Semester</a:t>
                      </a:r>
                    </a:p>
                  </a:txBody>
                  <a:tcPr/>
                </a:tc>
                <a:tc>
                  <a:txBody>
                    <a:bodyPr/>
                    <a:lstStyle/>
                    <a:p>
                      <a:r>
                        <a:rPr lang="en-IN" sz="2800" dirty="0">
                          <a:latin typeface="Times New Roman" panose="02020603050405020304" pitchFamily="18" charset="0"/>
                          <a:cs typeface="Times New Roman" panose="02020603050405020304" pitchFamily="18" charset="0"/>
                        </a:rPr>
                        <a:t>III CSE / B / V</a:t>
                      </a:r>
                    </a:p>
                  </a:txBody>
                  <a:tcPr/>
                </a:tc>
                <a:extLst>
                  <a:ext uri="{0D108BD9-81ED-4DB2-BD59-A6C34878D82A}">
                    <a16:rowId xmlns:a16="http://schemas.microsoft.com/office/drawing/2014/main" val="2492180032"/>
                  </a:ext>
                </a:extLst>
              </a:tr>
              <a:tr h="919852">
                <a:tc>
                  <a:txBody>
                    <a:bodyPr/>
                    <a:lstStyle/>
                    <a:p>
                      <a:r>
                        <a:rPr lang="en-IN" sz="2800" dirty="0">
                          <a:latin typeface="Times New Roman" panose="02020603050405020304" pitchFamily="18" charset="0"/>
                          <a:cs typeface="Times New Roman" panose="02020603050405020304" pitchFamily="18" charset="0"/>
                        </a:rPr>
                        <a:t>Batch</a:t>
                      </a:r>
                    </a:p>
                  </a:txBody>
                  <a:tcPr/>
                </a:tc>
                <a:tc>
                  <a:txBody>
                    <a:bodyPr/>
                    <a:lstStyle/>
                    <a:p>
                      <a:r>
                        <a:rPr lang="en-IN" sz="2800" dirty="0">
                          <a:latin typeface="Times New Roman" panose="02020603050405020304" pitchFamily="18" charset="0"/>
                          <a:cs typeface="Times New Roman" panose="02020603050405020304" pitchFamily="18" charset="0"/>
                        </a:rPr>
                        <a:t>2024-2028</a:t>
                      </a:r>
                    </a:p>
                  </a:txBody>
                  <a:tcPr/>
                </a:tc>
                <a:extLst>
                  <a:ext uri="{0D108BD9-81ED-4DB2-BD59-A6C34878D82A}">
                    <a16:rowId xmlns:a16="http://schemas.microsoft.com/office/drawing/2014/main" val="534204239"/>
                  </a:ext>
                </a:extLst>
              </a:tr>
              <a:tr h="919852">
                <a:tc>
                  <a:txBody>
                    <a:bodyPr/>
                    <a:lstStyle/>
                    <a:p>
                      <a:r>
                        <a:rPr lang="en-IN" sz="2800" dirty="0">
                          <a:latin typeface="Times New Roman" panose="02020603050405020304" pitchFamily="18" charset="0"/>
                          <a:cs typeface="Times New Roman" panose="02020603050405020304" pitchFamily="18" charset="0"/>
                        </a:rPr>
                        <a:t>Date</a:t>
                      </a:r>
                    </a:p>
                  </a:txBody>
                  <a:tcPr/>
                </a:tc>
                <a:tc>
                  <a:txBody>
                    <a:bodyPr/>
                    <a:lstStyle/>
                    <a:p>
                      <a:r>
                        <a:rPr lang="en-IN" sz="2800" dirty="0">
                          <a:latin typeface="Times New Roman" panose="02020603050405020304" pitchFamily="18" charset="0"/>
                          <a:cs typeface="Times New Roman" panose="02020603050405020304" pitchFamily="18" charset="0"/>
                        </a:rPr>
                        <a:t>28/10/2026</a:t>
                      </a:r>
                    </a:p>
                  </a:txBody>
                  <a:tcPr/>
                </a:tc>
                <a:extLst>
                  <a:ext uri="{0D108BD9-81ED-4DB2-BD59-A6C34878D82A}">
                    <a16:rowId xmlns:a16="http://schemas.microsoft.com/office/drawing/2014/main" val="3033158364"/>
                  </a:ext>
                </a:extLst>
              </a:tr>
              <a:tr h="919852">
                <a:tc>
                  <a:txBody>
                    <a:bodyPr/>
                    <a:lstStyle/>
                    <a:p>
                      <a:r>
                        <a:rPr lang="en-IN" sz="2800" dirty="0">
                          <a:latin typeface="Times New Roman" panose="02020603050405020304" pitchFamily="18" charset="0"/>
                          <a:cs typeface="Times New Roman" panose="02020603050405020304" pitchFamily="18" charset="0"/>
                        </a:rPr>
                        <a:t>Faculty I/C</a:t>
                      </a:r>
                    </a:p>
                  </a:txBody>
                  <a:tcPr/>
                </a:tc>
                <a:tc>
                  <a:txBody>
                    <a:bodyPr/>
                    <a:lstStyle/>
                    <a:p>
                      <a:r>
                        <a:rPr lang="en-IN" sz="2800" dirty="0">
                          <a:latin typeface="Times New Roman" panose="02020603050405020304" pitchFamily="18" charset="0"/>
                          <a:cs typeface="Times New Roman" panose="02020603050405020304" pitchFamily="18" charset="0"/>
                        </a:rPr>
                        <a:t>Dr. M. Suriya, M.E., Ph.D., AP/CSE</a:t>
                      </a:r>
                    </a:p>
                  </a:txBody>
                  <a:tcPr/>
                </a:tc>
                <a:extLst>
                  <a:ext uri="{0D108BD9-81ED-4DB2-BD59-A6C34878D82A}">
                    <a16:rowId xmlns:a16="http://schemas.microsoft.com/office/drawing/2014/main" val="1140365914"/>
                  </a:ext>
                </a:extLst>
              </a:tr>
              <a:tr h="919852">
                <a:tc>
                  <a:txBody>
                    <a:bodyPr/>
                    <a:lstStyle/>
                    <a:p>
                      <a:r>
                        <a:rPr lang="en-IN" sz="2800" dirty="0">
                          <a:latin typeface="Times New Roman" panose="02020603050405020304" pitchFamily="18" charset="0"/>
                          <a:cs typeface="Times New Roman" panose="02020603050405020304" pitchFamily="18" charset="0"/>
                        </a:rPr>
                        <a:t>Title</a:t>
                      </a:r>
                    </a:p>
                  </a:txBody>
                  <a:tcPr/>
                </a:tc>
                <a:tc>
                  <a:txBody>
                    <a:bodyPr/>
                    <a:lstStyle/>
                    <a:p>
                      <a:r>
                        <a:rPr lang="en-IN" sz="2800" dirty="0">
                          <a:latin typeface="Times New Roman" panose="02020603050405020304" pitchFamily="18" charset="0"/>
                          <a:cs typeface="Times New Roman" panose="02020603050405020304" pitchFamily="18" charset="0"/>
                        </a:rPr>
                        <a:t>Bus Passenger Demand Prediction</a:t>
                      </a:r>
                    </a:p>
                  </a:txBody>
                  <a:tcPr/>
                </a:tc>
                <a:extLst>
                  <a:ext uri="{0D108BD9-81ED-4DB2-BD59-A6C34878D82A}">
                    <a16:rowId xmlns:a16="http://schemas.microsoft.com/office/drawing/2014/main" val="1372577257"/>
                  </a:ext>
                </a:extLst>
              </a:tr>
              <a:tr h="919852">
                <a:tc>
                  <a:txBody>
                    <a:bodyPr/>
                    <a:lstStyle/>
                    <a:p>
                      <a:r>
                        <a:rPr lang="en-IN" sz="2800" dirty="0">
                          <a:latin typeface="Times New Roman" panose="02020603050405020304" pitchFamily="18" charset="0"/>
                          <a:cs typeface="Times New Roman" panose="02020603050405020304" pitchFamily="18" charset="0"/>
                        </a:rPr>
                        <a:t>Student Name &amp; Register No</a:t>
                      </a:r>
                    </a:p>
                  </a:txBody>
                  <a:tcPr/>
                </a:tc>
                <a:tc>
                  <a:txBody>
                    <a:bodyPr/>
                    <a:lstStyle/>
                    <a:p>
                      <a:r>
                        <a:rPr lang="en-IN" sz="2800" dirty="0">
                          <a:latin typeface="Times New Roman" panose="02020603050405020304" pitchFamily="18" charset="0"/>
                          <a:cs typeface="Times New Roman" panose="02020603050405020304" pitchFamily="18" charset="0"/>
                        </a:rPr>
                        <a:t>Kavin Prakash T - 722824104111</a:t>
                      </a:r>
                    </a:p>
                  </a:txBody>
                  <a:tcPr/>
                </a:tc>
                <a:extLst>
                  <a:ext uri="{0D108BD9-81ED-4DB2-BD59-A6C34878D82A}">
                    <a16:rowId xmlns:a16="http://schemas.microsoft.com/office/drawing/2014/main" val="676577317"/>
                  </a:ext>
                </a:extLst>
              </a:tr>
            </a:tbl>
          </a:graphicData>
        </a:graphic>
      </p:graphicFrame>
    </p:spTree>
    <p:extLst>
      <p:ext uri="{BB962C8B-B14F-4D97-AF65-F5344CB8AC3E}">
        <p14:creationId xmlns:p14="http://schemas.microsoft.com/office/powerpoint/2010/main" val="38418853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7997080" y="748366"/>
            <a:ext cx="2294255" cy="756920"/>
          </a:xfrm>
          <a:prstGeom prst="rect">
            <a:avLst/>
          </a:prstGeom>
        </p:spPr>
        <p:txBody>
          <a:bodyPr vert="horz" wrap="square" lIns="0" tIns="12700" rIns="0" bIns="0" rtlCol="0">
            <a:spAutoFit/>
          </a:bodyPr>
          <a:lstStyle/>
          <a:p>
            <a:pPr marL="12700">
              <a:lnSpc>
                <a:spcPct val="100000"/>
              </a:lnSpc>
              <a:spcBef>
                <a:spcPts val="100"/>
              </a:spcBef>
            </a:pPr>
            <a:r>
              <a:rPr spc="-10" dirty="0"/>
              <a:t>Abstract</a:t>
            </a:r>
          </a:p>
        </p:txBody>
      </p:sp>
      <p:sp>
        <p:nvSpPr>
          <p:cNvPr id="3" name="object 3"/>
          <p:cNvSpPr txBox="1"/>
          <p:nvPr/>
        </p:nvSpPr>
        <p:spPr>
          <a:xfrm>
            <a:off x="1244599" y="9626600"/>
            <a:ext cx="1092835" cy="579646"/>
          </a:xfrm>
          <a:prstGeom prst="rect">
            <a:avLst/>
          </a:prstGeom>
        </p:spPr>
        <p:txBody>
          <a:bodyPr vert="horz" wrap="square" lIns="0" tIns="12700" rIns="0" bIns="0" rtlCol="0">
            <a:spAutoFit/>
          </a:bodyPr>
          <a:lstStyle/>
          <a:p>
            <a:pPr marL="12700">
              <a:spcBef>
                <a:spcPts val="100"/>
              </a:spcBef>
            </a:pPr>
            <a:r>
              <a:rPr lang="en-IN" dirty="0">
                <a:solidFill>
                  <a:srgbClr val="898989"/>
                </a:solidFill>
                <a:latin typeface="Calibri"/>
                <a:cs typeface="Calibri"/>
              </a:rPr>
              <a:t>28-10</a:t>
            </a:r>
            <a:r>
              <a:rPr lang="en-IN" sz="1800" dirty="0">
                <a:solidFill>
                  <a:srgbClr val="898989"/>
                </a:solidFill>
                <a:latin typeface="Calibri"/>
                <a:cs typeface="Calibri"/>
              </a:rPr>
              <a:t>-</a:t>
            </a:r>
            <a:r>
              <a:rPr lang="en-IN" sz="1800" spc="-20" dirty="0">
                <a:solidFill>
                  <a:srgbClr val="898989"/>
                </a:solidFill>
                <a:latin typeface="Calibri"/>
                <a:cs typeface="Calibri"/>
              </a:rPr>
              <a:t>2026</a:t>
            </a:r>
            <a:endParaRPr lang="en-IN" sz="1800" dirty="0">
              <a:latin typeface="Calibri"/>
              <a:cs typeface="Calibri"/>
            </a:endParaRPr>
          </a:p>
          <a:p>
            <a:pPr marL="12700">
              <a:lnSpc>
                <a:spcPct val="100000"/>
              </a:lnSpc>
              <a:spcBef>
                <a:spcPts val="100"/>
              </a:spcBef>
            </a:pPr>
            <a:endParaRPr sz="1800" dirty="0">
              <a:latin typeface="Calibri"/>
              <a:cs typeface="Calibri"/>
            </a:endParaRPr>
          </a:p>
        </p:txBody>
      </p:sp>
      <p:sp>
        <p:nvSpPr>
          <p:cNvPr id="4" name="object 4"/>
          <p:cNvSpPr txBox="1"/>
          <p:nvPr/>
        </p:nvSpPr>
        <p:spPr>
          <a:xfrm>
            <a:off x="2239962" y="2019300"/>
            <a:ext cx="13808075" cy="6550511"/>
          </a:xfrm>
          <a:prstGeom prst="rect">
            <a:avLst/>
          </a:prstGeom>
        </p:spPr>
        <p:txBody>
          <a:bodyPr vert="horz" wrap="square" lIns="0" tIns="12700" rIns="0" bIns="0" rtlCol="0">
            <a:spAutoFit/>
          </a:bodyPr>
          <a:lstStyle/>
          <a:p>
            <a:pPr marL="12700" marR="2198370">
              <a:lnSpc>
                <a:spcPct val="100000"/>
              </a:lnSpc>
              <a:spcBef>
                <a:spcPts val="100"/>
              </a:spcBef>
            </a:pPr>
            <a:r>
              <a:rPr lang="en-IN" sz="3000" b="1" dirty="0">
                <a:latin typeface="Times New Roman" panose="02020603050405020304" pitchFamily="18" charset="0"/>
                <a:cs typeface="Times New Roman" panose="02020603050405020304" pitchFamily="18" charset="0"/>
              </a:rPr>
              <a:t>Bus Passenger Demand Prediction</a:t>
            </a:r>
          </a:p>
          <a:p>
            <a:pPr marL="12700" marR="2198370">
              <a:lnSpc>
                <a:spcPct val="100000"/>
              </a:lnSpc>
              <a:spcBef>
                <a:spcPts val="100"/>
              </a:spcBef>
            </a:pPr>
            <a:endParaRPr sz="3000" b="1" dirty="0">
              <a:latin typeface="Times New Roman" panose="02020603050405020304" pitchFamily="18" charset="0"/>
              <a:cs typeface="Times New Roman" panose="02020603050405020304" pitchFamily="18" charset="0"/>
            </a:endParaRPr>
          </a:p>
          <a:p>
            <a:pPr marL="514350" indent="-514350" algn="just" rtl="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It is an intelligent transit demand forecasting system.</a:t>
            </a:r>
          </a:p>
          <a:p>
            <a:pPr marL="514350" indent="-514350" algn="just" rtl="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 It uses a Scikit-learn Linear Regression pipeline trained on real-world bus trip records from several urban corridors. </a:t>
            </a:r>
          </a:p>
          <a:p>
            <a:pPr marL="514350" indent="-514350" algn="just" rtl="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The model takes in details such as the route, operating hour, weather condition, holiday status, peak-hour indicator, and calendar information to forecast how many passengers a bus is likely to carry. </a:t>
            </a:r>
          </a:p>
          <a:p>
            <a:pPr marL="514350" indent="-514350" algn="just" rtl="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A Flask REST API backend with a Chart.js operations console provides real-time single and batch predictions. </a:t>
            </a:r>
          </a:p>
          <a:p>
            <a:pPr marL="514350" indent="-514350" algn="just" rtl="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This lets transit authorities dispatch buses dynamically, manage headway intervals, and allocate their fleet according to predicted demand levels: Low, Medium, or High.</a:t>
            </a:r>
          </a:p>
          <a:p>
            <a:pPr marL="514350" indent="-514350" algn="just" rtl="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This project uses machine learning to predict bus passenger demand from historical data. By matching buses to expected demand, it helps optimize schedules, improve the use of vehicles and crew, and make journeys more comfortable for passengers.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371600" y="0"/>
            <a:ext cx="15544800" cy="1638951"/>
          </a:xfrm>
          <a:prstGeom prst="rect">
            <a:avLst/>
          </a:prstGeom>
        </p:spPr>
        <p:txBody>
          <a:bodyPr vert="horz" wrap="square" lIns="0" tIns="160060" rIns="0" bIns="0" rtlCol="0">
            <a:spAutoFit/>
          </a:bodyPr>
          <a:lstStyle/>
          <a:p>
            <a:pPr marL="0" indent="0" algn="ctr">
              <a:lnSpc>
                <a:spcPct val="100000"/>
              </a:lnSpc>
              <a:spcBef>
                <a:spcPts val="100"/>
              </a:spcBef>
            </a:pPr>
            <a:br>
              <a:rPr lang="en-IN" dirty="0"/>
            </a:br>
            <a:r>
              <a:rPr lang="en-IN" dirty="0"/>
              <a:t>The Challenge</a:t>
            </a:r>
          </a:p>
        </p:txBody>
      </p:sp>
      <p:sp>
        <p:nvSpPr>
          <p:cNvPr id="3" name="object 3"/>
          <p:cNvSpPr txBox="1"/>
          <p:nvPr/>
        </p:nvSpPr>
        <p:spPr>
          <a:xfrm>
            <a:off x="1244599" y="9493250"/>
            <a:ext cx="1092835" cy="579646"/>
          </a:xfrm>
          <a:prstGeom prst="rect">
            <a:avLst/>
          </a:prstGeom>
        </p:spPr>
        <p:txBody>
          <a:bodyPr vert="horz" wrap="square" lIns="0" tIns="12700" rIns="0" bIns="0" rtlCol="0">
            <a:spAutoFit/>
          </a:bodyPr>
          <a:lstStyle/>
          <a:p>
            <a:pPr marL="12700">
              <a:spcBef>
                <a:spcPts val="100"/>
              </a:spcBef>
            </a:pPr>
            <a:r>
              <a:rPr lang="en-IN" dirty="0">
                <a:solidFill>
                  <a:srgbClr val="898989"/>
                </a:solidFill>
                <a:latin typeface="Calibri"/>
                <a:cs typeface="Calibri"/>
              </a:rPr>
              <a:t>28-10</a:t>
            </a:r>
            <a:r>
              <a:rPr lang="en-IN" sz="1800" dirty="0">
                <a:solidFill>
                  <a:srgbClr val="898989"/>
                </a:solidFill>
                <a:latin typeface="Calibri"/>
                <a:cs typeface="Calibri"/>
              </a:rPr>
              <a:t>-</a:t>
            </a:r>
            <a:r>
              <a:rPr lang="en-IN" sz="1800" spc="-20" dirty="0">
                <a:solidFill>
                  <a:srgbClr val="898989"/>
                </a:solidFill>
                <a:latin typeface="Calibri"/>
                <a:cs typeface="Calibri"/>
              </a:rPr>
              <a:t>2026</a:t>
            </a:r>
            <a:endParaRPr lang="en-IN" sz="1800" dirty="0">
              <a:latin typeface="Calibri"/>
              <a:cs typeface="Calibri"/>
            </a:endParaRPr>
          </a:p>
          <a:p>
            <a:pPr marL="12700">
              <a:lnSpc>
                <a:spcPct val="100000"/>
              </a:lnSpc>
              <a:spcBef>
                <a:spcPts val="100"/>
              </a:spcBef>
            </a:pPr>
            <a:endParaRPr sz="1800" dirty="0">
              <a:latin typeface="Calibri"/>
              <a:cs typeface="Calibri"/>
            </a:endParaRPr>
          </a:p>
        </p:txBody>
      </p:sp>
      <p:sp>
        <p:nvSpPr>
          <p:cNvPr id="11" name="object 11"/>
          <p:cNvSpPr txBox="1">
            <a:spLocks noGrp="1"/>
          </p:cNvSpPr>
          <p:nvPr>
            <p:ph type="body" idx="1"/>
          </p:nvPr>
        </p:nvSpPr>
        <p:spPr>
          <a:xfrm>
            <a:off x="1956816" y="2468880"/>
            <a:ext cx="14374368" cy="6766560"/>
          </a:xfrm>
          <a:prstGeom prst="rect">
            <a:avLst/>
          </a:prstGeom>
        </p:spPr>
        <p:txBody>
          <a:bodyPr vert="horz" wrap="square" lIns="0" tIns="68580" rIns="0" bIns="0" rtlCol="0"/>
          <a:lstStyle/>
          <a:p>
            <a:pPr marL="457200" indent="-457200">
              <a:spcBef>
                <a:spcPts val="700"/>
              </a:spcBef>
              <a:buFont typeface="Arial"/>
              <a:buChar char="•"/>
            </a:pPr>
            <a:r>
              <a:rPr lang="en-IN" sz="3200" dirty="0">
                <a:latin typeface="Times New Roman"/>
                <a:cs typeface="Times New Roman"/>
              </a:rPr>
              <a:t>Bus demand changes sharply with hour, route, weather and day type.</a:t>
            </a:r>
          </a:p>
          <a:p>
            <a:pPr marL="457200" indent="-457200">
              <a:spcBef>
                <a:spcPts val="700"/>
              </a:spcBef>
              <a:buFont typeface="Arial"/>
              <a:buChar char="•"/>
            </a:pPr>
            <a:r>
              <a:rPr lang="en-IN" sz="3200" dirty="0">
                <a:latin typeface="Times New Roman"/>
                <a:cs typeface="Times New Roman"/>
              </a:rPr>
              <a:t>Rush hours overload buses, while off-peak trips run almost empty and waste fuel and crew time.</a:t>
            </a:r>
          </a:p>
          <a:p>
            <a:pPr marL="457200" indent="-457200">
              <a:spcBef>
                <a:spcPts val="700"/>
              </a:spcBef>
              <a:buFont typeface="Arial"/>
              <a:buChar char="•"/>
            </a:pPr>
            <a:r>
              <a:rPr lang="en-IN" sz="3200" dirty="0">
                <a:latin typeface="Times New Roman"/>
                <a:cs typeface="Times New Roman"/>
              </a:rPr>
              <a:t>Rain, holidays and weekends shift ridership in ways fixed timetables cannot follow.</a:t>
            </a:r>
          </a:p>
          <a:p>
            <a:pPr marL="457200" indent="-457200">
              <a:spcBef>
                <a:spcPts val="700"/>
              </a:spcBef>
              <a:buFont typeface="Arial"/>
              <a:buChar char="•"/>
            </a:pPr>
            <a:r>
              <a:rPr lang="en-IN" sz="3200" dirty="0">
                <a:latin typeface="Times New Roman"/>
                <a:cs typeface="Times New Roman"/>
              </a:rPr>
              <a:t>Dispatchers need a quick way to turn a demand estimate into a bus type and headway.</a:t>
            </a:r>
          </a:p>
          <a:p>
            <a:pPr marL="0" indent="0">
              <a:spcBef>
                <a:spcPts val="1400"/>
              </a:spcBef>
              <a:buNone/>
            </a:pPr>
            <a:r>
              <a:rPr lang="en-IN" sz="3400" b="1" dirty="0">
                <a:solidFill>
                  <a:srgbClr val="7030A0"/>
                </a:solidFill>
                <a:latin typeface="Times New Roman"/>
                <a:cs typeface="Times New Roman"/>
              </a:rPr>
              <a:t>Our Objective</a:t>
            </a:r>
          </a:p>
          <a:p>
            <a:pPr marL="0" indent="0" algn="ctr">
              <a:spcBef>
                <a:spcPts val="900"/>
              </a:spcBef>
              <a:buNone/>
            </a:pPr>
            <a:r>
              <a:rPr lang="en-IN" sz="3200" i="1" dirty="0">
                <a:latin typeface="Times New Roman"/>
                <a:cs typeface="Times New Roman"/>
              </a:rPr>
              <a:t>“Develop a machine learning system that forecasts passenger load for each bus trip, classifies demand, and recommends the bus type and headway to dispatch.”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371600" y="0"/>
            <a:ext cx="15544800" cy="1638951"/>
          </a:xfrm>
          <a:prstGeom prst="rect">
            <a:avLst/>
          </a:prstGeom>
        </p:spPr>
        <p:txBody>
          <a:bodyPr vert="horz" wrap="square" lIns="0" tIns="160060" rIns="0" bIns="0" rtlCol="0">
            <a:spAutoFit/>
          </a:bodyPr>
          <a:lstStyle/>
          <a:p>
            <a:pPr marL="0" indent="0" algn="ctr">
              <a:lnSpc>
                <a:spcPct val="100000"/>
              </a:lnSpc>
              <a:spcBef>
                <a:spcPts val="100"/>
              </a:spcBef>
            </a:pPr>
            <a:br>
              <a:rPr lang="en-IN" dirty="0"/>
            </a:br>
            <a:r>
              <a:rPr lang="en-IN" dirty="0"/>
              <a:t>Existing System &amp; Limitations</a:t>
            </a:r>
          </a:p>
        </p:txBody>
      </p:sp>
      <p:sp>
        <p:nvSpPr>
          <p:cNvPr id="3" name="object 3"/>
          <p:cNvSpPr txBox="1"/>
          <p:nvPr/>
        </p:nvSpPr>
        <p:spPr>
          <a:xfrm>
            <a:off x="1244599" y="9493250"/>
            <a:ext cx="1092835" cy="579646"/>
          </a:xfrm>
          <a:prstGeom prst="rect">
            <a:avLst/>
          </a:prstGeom>
        </p:spPr>
        <p:txBody>
          <a:bodyPr vert="horz" wrap="square" lIns="0" tIns="12700" rIns="0" bIns="0" rtlCol="0">
            <a:spAutoFit/>
          </a:bodyPr>
          <a:lstStyle/>
          <a:p>
            <a:pPr marL="12700">
              <a:spcBef>
                <a:spcPts val="100"/>
              </a:spcBef>
            </a:pPr>
            <a:r>
              <a:rPr lang="en-IN" dirty="0">
                <a:solidFill>
                  <a:srgbClr val="898989"/>
                </a:solidFill>
                <a:latin typeface="Calibri"/>
                <a:cs typeface="Calibri"/>
              </a:rPr>
              <a:t>28-10</a:t>
            </a:r>
            <a:r>
              <a:rPr lang="en-IN" sz="1800" dirty="0">
                <a:solidFill>
                  <a:srgbClr val="898989"/>
                </a:solidFill>
                <a:latin typeface="Calibri"/>
                <a:cs typeface="Calibri"/>
              </a:rPr>
              <a:t>-</a:t>
            </a:r>
            <a:r>
              <a:rPr lang="en-IN" sz="1800" spc="-20" dirty="0">
                <a:solidFill>
                  <a:srgbClr val="898989"/>
                </a:solidFill>
                <a:latin typeface="Calibri"/>
                <a:cs typeface="Calibri"/>
              </a:rPr>
              <a:t>2026</a:t>
            </a:r>
            <a:endParaRPr lang="en-IN" sz="1800" dirty="0">
              <a:latin typeface="Calibri"/>
              <a:cs typeface="Calibri"/>
            </a:endParaRPr>
          </a:p>
          <a:p>
            <a:pPr marL="12700">
              <a:lnSpc>
                <a:spcPct val="100000"/>
              </a:lnSpc>
              <a:spcBef>
                <a:spcPts val="100"/>
              </a:spcBef>
            </a:pPr>
            <a:endParaRPr sz="1800" dirty="0">
              <a:latin typeface="Calibri"/>
              <a:cs typeface="Calibri"/>
            </a:endParaRPr>
          </a:p>
        </p:txBody>
      </p:sp>
      <p:sp>
        <p:nvSpPr>
          <p:cNvPr id="11" name="object 11"/>
          <p:cNvSpPr txBox="1">
            <a:spLocks noGrp="1"/>
          </p:cNvSpPr>
          <p:nvPr>
            <p:ph type="body" idx="1"/>
          </p:nvPr>
        </p:nvSpPr>
        <p:spPr>
          <a:xfrm>
            <a:off x="1956816" y="2240280"/>
            <a:ext cx="14374368" cy="7498079"/>
          </a:xfrm>
          <a:prstGeom prst="rect">
            <a:avLst/>
          </a:prstGeom>
        </p:spPr>
        <p:txBody>
          <a:bodyPr vert="horz" wrap="square" lIns="0" tIns="68580" rIns="0" bIns="0" rtlCol="0"/>
          <a:lstStyle/>
          <a:p>
            <a:pPr marL="0" indent="0">
              <a:spcBef>
                <a:spcPts val="1400"/>
              </a:spcBef>
              <a:buNone/>
            </a:pPr>
            <a:r>
              <a:rPr lang="en-IN" sz="3100" b="1" dirty="0">
                <a:solidFill>
                  <a:srgbClr val="7030A0"/>
                </a:solidFill>
                <a:latin typeface="Times New Roman"/>
                <a:cs typeface="Times New Roman"/>
              </a:rPr>
              <a:t>Existing Approach</a:t>
            </a:r>
          </a:p>
          <a:p>
            <a:pPr marL="457200" indent="-457200">
              <a:spcBef>
                <a:spcPts val="700"/>
              </a:spcBef>
              <a:buFont typeface="Arial"/>
              <a:buChar char="•"/>
            </a:pPr>
            <a:r>
              <a:rPr lang="en-IN" sz="2900" dirty="0">
                <a:latin typeface="Times New Roman"/>
                <a:cs typeface="Times New Roman"/>
              </a:rPr>
              <a:t>Fixed timetables prepared from historical averages.</a:t>
            </a:r>
          </a:p>
          <a:p>
            <a:pPr marL="457200" indent="-457200">
              <a:spcBef>
                <a:spcPts val="700"/>
              </a:spcBef>
              <a:buFont typeface="Arial"/>
              <a:buChar char="•"/>
            </a:pPr>
            <a:r>
              <a:rPr lang="en-IN" sz="2900" dirty="0">
                <a:latin typeface="Times New Roman"/>
                <a:cs typeface="Times New Roman"/>
              </a:rPr>
              <a:t>Manual passenger counts and ticket audits.</a:t>
            </a:r>
          </a:p>
          <a:p>
            <a:pPr marL="457200" indent="-457200">
              <a:spcBef>
                <a:spcPts val="700"/>
              </a:spcBef>
              <a:buFont typeface="Arial"/>
              <a:buChar char="•"/>
            </a:pPr>
            <a:r>
              <a:rPr lang="en-IN" sz="2900" dirty="0">
                <a:latin typeface="Times New Roman"/>
                <a:cs typeface="Times New Roman"/>
              </a:rPr>
              <a:t>Same vehicle type used on a route at all hours.</a:t>
            </a:r>
          </a:p>
          <a:p>
            <a:pPr marL="457200" indent="-457200">
              <a:spcBef>
                <a:spcPts val="700"/>
              </a:spcBef>
              <a:buFont typeface="Arial"/>
              <a:buChar char="•"/>
            </a:pPr>
            <a:r>
              <a:rPr lang="en-IN" sz="2900" dirty="0">
                <a:latin typeface="Times New Roman"/>
                <a:cs typeface="Times New Roman"/>
              </a:rPr>
              <a:t>Weather and holiday effects estimated by hand.</a:t>
            </a:r>
          </a:p>
          <a:p>
            <a:pPr marL="0" indent="0">
              <a:spcBef>
                <a:spcPts val="1400"/>
              </a:spcBef>
              <a:buNone/>
            </a:pPr>
            <a:r>
              <a:rPr lang="en-IN" sz="3100" b="1" dirty="0">
                <a:solidFill>
                  <a:srgbClr val="7030A0"/>
                </a:solidFill>
                <a:latin typeface="Times New Roman"/>
                <a:cs typeface="Times New Roman"/>
              </a:rPr>
              <a:t>Key Limitations</a:t>
            </a:r>
          </a:p>
          <a:p>
            <a:pPr marL="457200" indent="-457200">
              <a:spcBef>
                <a:spcPts val="700"/>
              </a:spcBef>
              <a:buFont typeface="Arial"/>
              <a:buChar char="•"/>
            </a:pPr>
            <a:r>
              <a:rPr lang="en-IN" sz="2900" dirty="0">
                <a:latin typeface="Times New Roman"/>
                <a:cs typeface="Times New Roman"/>
              </a:rPr>
              <a:t>Delayed or inaccurate demand estimation.</a:t>
            </a:r>
          </a:p>
          <a:p>
            <a:pPr marL="457200" indent="-457200">
              <a:spcBef>
                <a:spcPts val="700"/>
              </a:spcBef>
              <a:buFont typeface="Arial"/>
              <a:buChar char="•"/>
            </a:pPr>
            <a:r>
              <a:rPr lang="en-IN" sz="2900" dirty="0">
                <a:latin typeface="Times New Roman"/>
                <a:cs typeface="Times New Roman"/>
              </a:rPr>
              <a:t>Overcrowding and long waits during surges.</a:t>
            </a:r>
          </a:p>
          <a:p>
            <a:pPr marL="457200" indent="-457200">
              <a:spcBef>
                <a:spcPts val="700"/>
              </a:spcBef>
              <a:buFont typeface="Arial"/>
              <a:buChar char="•"/>
            </a:pPr>
            <a:r>
              <a:rPr lang="en-IN" sz="2900" dirty="0">
                <a:latin typeface="Times New Roman"/>
                <a:cs typeface="Times New Roman"/>
              </a:rPr>
              <a:t>Underused buses burning fuel in low-demand periods.</a:t>
            </a:r>
          </a:p>
          <a:p>
            <a:pPr marL="457200" indent="-457200">
              <a:spcBef>
                <a:spcPts val="700"/>
              </a:spcBef>
              <a:buFont typeface="Arial"/>
              <a:buChar char="•"/>
            </a:pPr>
            <a:r>
              <a:rPr lang="en-IN" sz="2900" dirty="0">
                <a:latin typeface="Times New Roman"/>
                <a:cs typeface="Times New Roman"/>
              </a:rPr>
              <a:t>No easy comparison of demand across routes.</a:t>
            </a:r>
          </a:p>
          <a:p>
            <a:pPr marL="0" indent="0" algn="ctr">
              <a:spcBef>
                <a:spcPts val="900"/>
              </a:spcBef>
              <a:buNone/>
            </a:pPr>
            <a:r>
              <a:rPr lang="en-IN" sz="2900" i="1" dirty="0">
                <a:latin typeface="Times New Roman"/>
                <a:cs typeface="Times New Roman"/>
              </a:rPr>
              <a:t>Result: “Buses are not matched to the demand actually expected.”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371600" y="0"/>
            <a:ext cx="15544800" cy="1638951"/>
          </a:xfrm>
          <a:prstGeom prst="rect">
            <a:avLst/>
          </a:prstGeom>
        </p:spPr>
        <p:txBody>
          <a:bodyPr vert="horz" wrap="square" lIns="0" tIns="160060" rIns="0" bIns="0" rtlCol="0">
            <a:spAutoFit/>
          </a:bodyPr>
          <a:lstStyle/>
          <a:p>
            <a:pPr marL="0" indent="0" algn="ctr">
              <a:lnSpc>
                <a:spcPct val="100000"/>
              </a:lnSpc>
              <a:spcBef>
                <a:spcPts val="100"/>
              </a:spcBef>
            </a:pPr>
            <a:br>
              <a:rPr lang="en-IN" dirty="0"/>
            </a:br>
            <a:r>
              <a:rPr lang="en-IN" dirty="0"/>
              <a:t>Proposed Solution</a:t>
            </a:r>
          </a:p>
        </p:txBody>
      </p:sp>
      <p:sp>
        <p:nvSpPr>
          <p:cNvPr id="3" name="object 3"/>
          <p:cNvSpPr txBox="1"/>
          <p:nvPr/>
        </p:nvSpPr>
        <p:spPr>
          <a:xfrm>
            <a:off x="1244599" y="9493250"/>
            <a:ext cx="1092835" cy="579646"/>
          </a:xfrm>
          <a:prstGeom prst="rect">
            <a:avLst/>
          </a:prstGeom>
        </p:spPr>
        <p:txBody>
          <a:bodyPr vert="horz" wrap="square" lIns="0" tIns="12700" rIns="0" bIns="0" rtlCol="0">
            <a:spAutoFit/>
          </a:bodyPr>
          <a:lstStyle/>
          <a:p>
            <a:pPr marL="12700">
              <a:spcBef>
                <a:spcPts val="100"/>
              </a:spcBef>
            </a:pPr>
            <a:r>
              <a:rPr lang="en-IN" dirty="0">
                <a:solidFill>
                  <a:srgbClr val="898989"/>
                </a:solidFill>
                <a:latin typeface="Calibri"/>
                <a:cs typeface="Calibri"/>
              </a:rPr>
              <a:t>28-10</a:t>
            </a:r>
            <a:r>
              <a:rPr lang="en-IN" sz="1800" dirty="0">
                <a:solidFill>
                  <a:srgbClr val="898989"/>
                </a:solidFill>
                <a:latin typeface="Calibri"/>
                <a:cs typeface="Calibri"/>
              </a:rPr>
              <a:t>-</a:t>
            </a:r>
            <a:r>
              <a:rPr lang="en-IN" sz="1800" spc="-20" dirty="0">
                <a:solidFill>
                  <a:srgbClr val="898989"/>
                </a:solidFill>
                <a:latin typeface="Calibri"/>
                <a:cs typeface="Calibri"/>
              </a:rPr>
              <a:t>2026</a:t>
            </a:r>
            <a:endParaRPr lang="en-IN" sz="1800" dirty="0">
              <a:latin typeface="Calibri"/>
              <a:cs typeface="Calibri"/>
            </a:endParaRPr>
          </a:p>
          <a:p>
            <a:pPr marL="12700">
              <a:lnSpc>
                <a:spcPct val="100000"/>
              </a:lnSpc>
              <a:spcBef>
                <a:spcPts val="100"/>
              </a:spcBef>
            </a:pPr>
            <a:endParaRPr sz="1800" dirty="0">
              <a:latin typeface="Calibri"/>
              <a:cs typeface="Calibri"/>
            </a:endParaRPr>
          </a:p>
        </p:txBody>
      </p:sp>
      <p:sp>
        <p:nvSpPr>
          <p:cNvPr id="11" name="object 11"/>
          <p:cNvSpPr txBox="1">
            <a:spLocks noGrp="1"/>
          </p:cNvSpPr>
          <p:nvPr>
            <p:ph type="body" idx="1"/>
          </p:nvPr>
        </p:nvSpPr>
        <p:spPr>
          <a:xfrm>
            <a:off x="1956816" y="2377440"/>
            <a:ext cx="14374368" cy="7040880"/>
          </a:xfrm>
          <a:prstGeom prst="rect">
            <a:avLst/>
          </a:prstGeom>
        </p:spPr>
        <p:txBody>
          <a:bodyPr vert="horz" wrap="square" lIns="0" tIns="68580" rIns="0" bIns="0" rtlCol="0"/>
          <a:lstStyle/>
          <a:p>
            <a:pPr marL="0" indent="0">
              <a:spcBef>
                <a:spcPts val="1400"/>
              </a:spcBef>
              <a:buNone/>
            </a:pPr>
            <a:r>
              <a:rPr lang="en-IN" sz="3100" b="1" dirty="0">
                <a:solidFill>
                  <a:srgbClr val="7030A0"/>
                </a:solidFill>
                <a:latin typeface="Times New Roman"/>
                <a:cs typeface="Times New Roman"/>
              </a:rPr>
              <a:t>An Integrated, Data-Driven Demand Forecasting Platform</a:t>
            </a:r>
          </a:p>
          <a:p>
            <a:pPr marL="457200" indent="-457200">
              <a:spcBef>
                <a:spcPts val="700"/>
              </a:spcBef>
              <a:buFont typeface="Arial"/>
              <a:buChar char="•"/>
            </a:pPr>
            <a:r>
              <a:rPr lang="en-IN" sz="2900" b="1" dirty="0">
                <a:latin typeface="Times New Roman"/>
                <a:cs typeface="Times New Roman"/>
              </a:rPr>
              <a:t>Collect </a:t>
            </a:r>
            <a:r>
              <a:rPr lang="en-IN" sz="2900" dirty="0">
                <a:latin typeface="Times New Roman"/>
                <a:cs typeface="Times New Roman"/>
              </a:rPr>
              <a:t>trip records: route, date, hour, weather, bus type and holiday (593 trips, 10 routes).</a:t>
            </a:r>
          </a:p>
          <a:p>
            <a:pPr marL="457200" indent="-457200">
              <a:spcBef>
                <a:spcPts val="700"/>
              </a:spcBef>
              <a:buFont typeface="Arial"/>
              <a:buChar char="•"/>
            </a:pPr>
            <a:r>
              <a:rPr lang="en-IN" sz="2900" b="1" dirty="0">
                <a:latin typeface="Times New Roman"/>
                <a:cs typeface="Times New Roman"/>
              </a:rPr>
              <a:t>Derive </a:t>
            </a:r>
            <a:r>
              <a:rPr lang="en-IN" sz="2900" dirty="0">
                <a:latin typeface="Times New Roman"/>
                <a:cs typeface="Times New Roman"/>
              </a:rPr>
              <a:t>11 features automatically, including day of week, weekend and peak-hour flags.</a:t>
            </a:r>
          </a:p>
          <a:p>
            <a:pPr marL="457200" indent="-457200">
              <a:spcBef>
                <a:spcPts val="700"/>
              </a:spcBef>
              <a:buFont typeface="Arial"/>
              <a:buChar char="•"/>
            </a:pPr>
            <a:r>
              <a:rPr lang="en-IN" sz="2900" b="1" dirty="0">
                <a:latin typeface="Times New Roman"/>
                <a:cs typeface="Times New Roman"/>
              </a:rPr>
              <a:t>Predict </a:t>
            </a:r>
            <a:r>
              <a:rPr lang="en-IN" sz="2900" dirty="0">
                <a:latin typeface="Times New Roman"/>
                <a:cs typeface="Times New Roman"/>
              </a:rPr>
              <a:t>passengers per trip with a Linear Regression pipeline (R² 0.8663, MAE 7.42, RMSE 9.26).</a:t>
            </a:r>
          </a:p>
          <a:p>
            <a:pPr marL="457200" indent="-457200">
              <a:spcBef>
                <a:spcPts val="700"/>
              </a:spcBef>
              <a:buFont typeface="Arial"/>
              <a:buChar char="•"/>
            </a:pPr>
            <a:r>
              <a:rPr lang="en-IN" sz="2900" b="1" dirty="0">
                <a:latin typeface="Times New Roman"/>
                <a:cs typeface="Times New Roman"/>
              </a:rPr>
              <a:t>Classify </a:t>
            </a:r>
            <a:r>
              <a:rPr lang="en-IN" sz="2900" dirty="0">
                <a:latin typeface="Times New Roman"/>
                <a:cs typeface="Times New Roman"/>
              </a:rPr>
              <a:t>demand as Low (≤ 40), Medium (41–80) or High (&gt; 80) with bus type and headway advice.</a:t>
            </a:r>
          </a:p>
          <a:p>
            <a:pPr marL="457200" indent="-457200">
              <a:spcBef>
                <a:spcPts val="700"/>
              </a:spcBef>
              <a:buFont typeface="Arial"/>
              <a:buChar char="•"/>
            </a:pPr>
            <a:r>
              <a:rPr lang="en-IN" sz="2900" b="1" dirty="0">
                <a:latin typeface="Times New Roman"/>
                <a:cs typeface="Times New Roman"/>
              </a:rPr>
              <a:t>Present </a:t>
            </a:r>
            <a:r>
              <a:rPr lang="en-IN" sz="2900" dirty="0">
                <a:latin typeface="Times New Roman"/>
                <a:cs typeface="Times New Roman"/>
              </a:rPr>
              <a:t>forecasts through a Flask REST API and a Chart.js operations console.</a:t>
            </a:r>
          </a:p>
          <a:p>
            <a:pPr marL="0" indent="0">
              <a:spcBef>
                <a:spcPts val="1400"/>
              </a:spcBef>
              <a:buNone/>
            </a:pPr>
            <a:r>
              <a:rPr lang="en-IN" sz="3100" b="1" dirty="0">
                <a:solidFill>
                  <a:srgbClr val="7030A0"/>
                </a:solidFill>
                <a:latin typeface="Times New Roman"/>
                <a:cs typeface="Times New Roman"/>
              </a:rPr>
              <a:t>How it improves existing operations</a:t>
            </a:r>
          </a:p>
          <a:p>
            <a:pPr marL="0" indent="0" algn="ctr">
              <a:spcBef>
                <a:spcPts val="900"/>
              </a:spcBef>
              <a:buNone/>
            </a:pPr>
            <a:r>
              <a:rPr lang="en-IN" sz="2900" i="1" dirty="0">
                <a:latin typeface="Times New Roman"/>
                <a:cs typeface="Times New Roman"/>
              </a:rPr>
              <a:t>“Replaces static timetables with route- and hour-level forecasts, and turns each forecast into a dispatch action.”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371600" y="196850"/>
            <a:ext cx="15544800" cy="756920"/>
          </a:xfrm>
          <a:prstGeom prst="rect">
            <a:avLst/>
          </a:prstGeom>
        </p:spPr>
        <p:txBody>
          <a:bodyPr vert="horz" wrap="square" lIns="0" tIns="12700" rIns="0" bIns="0" rtlCol="0">
            <a:spAutoFit/>
          </a:bodyPr>
          <a:lstStyle/>
          <a:p>
            <a:pPr marL="0" indent="0" algn="ctr">
              <a:lnSpc>
                <a:spcPct val="100000"/>
              </a:lnSpc>
              <a:spcBef>
                <a:spcPts val="100"/>
              </a:spcBef>
            </a:pPr>
            <a:r>
              <a:rPr lang="en-IN" dirty="0"/>
              <a:t>System Architecture And Workflow</a:t>
            </a:r>
          </a:p>
        </p:txBody>
      </p:sp>
      <p:sp>
        <p:nvSpPr>
          <p:cNvPr id="3" name="object 3"/>
          <p:cNvSpPr txBox="1"/>
          <p:nvPr/>
        </p:nvSpPr>
        <p:spPr>
          <a:xfrm>
            <a:off x="1244599" y="9493250"/>
            <a:ext cx="1092835" cy="579646"/>
          </a:xfrm>
          <a:prstGeom prst="rect">
            <a:avLst/>
          </a:prstGeom>
        </p:spPr>
        <p:txBody>
          <a:bodyPr vert="horz" wrap="square" lIns="0" tIns="12700" rIns="0" bIns="0" rtlCol="0">
            <a:spAutoFit/>
          </a:bodyPr>
          <a:lstStyle/>
          <a:p>
            <a:pPr marL="12700">
              <a:spcBef>
                <a:spcPts val="100"/>
              </a:spcBef>
            </a:pPr>
            <a:r>
              <a:rPr lang="en-IN" dirty="0">
                <a:solidFill>
                  <a:srgbClr val="898989"/>
                </a:solidFill>
                <a:latin typeface="Calibri"/>
                <a:cs typeface="Calibri"/>
              </a:rPr>
              <a:t>28-10</a:t>
            </a:r>
            <a:r>
              <a:rPr lang="en-IN" sz="1800" dirty="0">
                <a:solidFill>
                  <a:srgbClr val="898989"/>
                </a:solidFill>
                <a:latin typeface="Calibri"/>
                <a:cs typeface="Calibri"/>
              </a:rPr>
              <a:t>-</a:t>
            </a:r>
            <a:r>
              <a:rPr lang="en-IN" sz="1800" spc="-20" dirty="0">
                <a:solidFill>
                  <a:srgbClr val="898989"/>
                </a:solidFill>
                <a:latin typeface="Calibri"/>
                <a:cs typeface="Calibri"/>
              </a:rPr>
              <a:t>2026</a:t>
            </a:r>
            <a:endParaRPr lang="en-IN" sz="1800" dirty="0">
              <a:latin typeface="Calibri"/>
              <a:cs typeface="Calibri"/>
            </a:endParaRPr>
          </a:p>
          <a:p>
            <a:pPr marL="12700">
              <a:lnSpc>
                <a:spcPct val="100000"/>
              </a:lnSpc>
              <a:spcBef>
                <a:spcPts val="100"/>
              </a:spcBef>
            </a:pPr>
            <a:endParaRPr sz="1800" dirty="0">
              <a:latin typeface="Calibri"/>
              <a:cs typeface="Calibri"/>
            </a:endParaRPr>
          </a:p>
        </p:txBody>
      </p:sp>
      <p:sp>
        <p:nvSpPr>
          <p:cNvPr id="5" name="object 5"/>
          <p:cNvSpPr txBox="1"/>
          <p:nvPr/>
        </p:nvSpPr>
        <p:spPr>
          <a:xfrm>
            <a:off x="6423335" y="9578375"/>
            <a:ext cx="2921000" cy="436880"/>
          </a:xfrm>
          <a:prstGeom prst="rect">
            <a:avLst/>
          </a:prstGeom>
        </p:spPr>
        <p:txBody>
          <a:bodyPr vert="horz" wrap="square" lIns="0" tIns="12700" rIns="0" bIns="0" rtlCol="0">
            <a:spAutoFit/>
          </a:bodyPr>
          <a:lstStyle/>
          <a:p>
            <a:pPr marL="12700" algn="ctr">
              <a:lnSpc>
                <a:spcPct val="100000"/>
              </a:lnSpc>
              <a:spcBef>
                <a:spcPts val="100"/>
              </a:spcBef>
            </a:pPr>
            <a:r>
              <a:rPr sz="2700" b="1" dirty="0">
                <a:latin typeface="Times New Roman"/>
                <a:cs typeface="Times New Roman"/>
              </a:rPr>
              <a:t>Work</a:t>
            </a:r>
            <a:r>
              <a:rPr sz="2700" b="1" spc="-25" dirty="0">
                <a:latin typeface="Times New Roman"/>
                <a:cs typeface="Times New Roman"/>
              </a:rPr>
              <a:t> </a:t>
            </a:r>
            <a:r>
              <a:rPr sz="2700" b="1" dirty="0">
                <a:latin typeface="Times New Roman"/>
                <a:cs typeface="Times New Roman"/>
              </a:rPr>
              <a:t>flow</a:t>
            </a:r>
            <a:r>
              <a:rPr sz="2700" b="1" spc="-25" dirty="0">
                <a:latin typeface="Times New Roman"/>
                <a:cs typeface="Times New Roman"/>
              </a:rPr>
              <a:t> </a:t>
            </a:r>
            <a:r>
              <a:rPr sz="2700" b="1" spc="-10" dirty="0">
                <a:latin typeface="Times New Roman"/>
                <a:cs typeface="Times New Roman"/>
              </a:rPr>
              <a:t>diagram</a:t>
            </a:r>
            <a:endParaRPr sz="2700" dirty="0">
              <a:latin typeface="Times New Roman"/>
              <a:cs typeface="Times New Roman"/>
            </a:endParaRPr>
          </a:p>
        </p:txBody>
      </p:sp>
      <p:pic>
        <p:nvPicPr>
          <p:cNvPr id="7" name="Picture 6">
            <a:extLst>
              <a:ext uri="{FF2B5EF4-FFF2-40B4-BE49-F238E27FC236}">
                <a16:creationId xmlns:a16="http://schemas.microsoft.com/office/drawing/2014/main" id="{52E4ABCB-28FB-E8CE-8CAE-3CF5CBCEB1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5400" y="869673"/>
            <a:ext cx="7379785" cy="879279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371600" y="0"/>
            <a:ext cx="15544800" cy="1638951"/>
          </a:xfrm>
          <a:prstGeom prst="rect">
            <a:avLst/>
          </a:prstGeom>
        </p:spPr>
        <p:txBody>
          <a:bodyPr vert="horz" wrap="square" lIns="0" tIns="160060" rIns="0" bIns="0" rtlCol="0">
            <a:spAutoFit/>
          </a:bodyPr>
          <a:lstStyle/>
          <a:p>
            <a:pPr marL="0" indent="0" algn="ctr">
              <a:lnSpc>
                <a:spcPct val="100000"/>
              </a:lnSpc>
              <a:spcBef>
                <a:spcPts val="100"/>
              </a:spcBef>
            </a:pPr>
            <a:br>
              <a:rPr lang="en-IN" dirty="0"/>
            </a:br>
            <a:r>
              <a:rPr lang="en-IN" dirty="0"/>
              <a:t>Data Sources, Preprocessing &amp; EDA</a:t>
            </a:r>
          </a:p>
        </p:txBody>
      </p:sp>
      <p:sp>
        <p:nvSpPr>
          <p:cNvPr id="3" name="object 3"/>
          <p:cNvSpPr txBox="1"/>
          <p:nvPr/>
        </p:nvSpPr>
        <p:spPr>
          <a:xfrm>
            <a:off x="1244599" y="9493250"/>
            <a:ext cx="1092835" cy="579646"/>
          </a:xfrm>
          <a:prstGeom prst="rect">
            <a:avLst/>
          </a:prstGeom>
        </p:spPr>
        <p:txBody>
          <a:bodyPr vert="horz" wrap="square" lIns="0" tIns="12700" rIns="0" bIns="0" rtlCol="0">
            <a:spAutoFit/>
          </a:bodyPr>
          <a:lstStyle/>
          <a:p>
            <a:pPr marL="12700">
              <a:spcBef>
                <a:spcPts val="100"/>
              </a:spcBef>
            </a:pPr>
            <a:r>
              <a:rPr lang="en-IN" dirty="0">
                <a:solidFill>
                  <a:srgbClr val="898989"/>
                </a:solidFill>
                <a:latin typeface="Calibri"/>
                <a:cs typeface="Calibri"/>
              </a:rPr>
              <a:t>28-10</a:t>
            </a:r>
            <a:r>
              <a:rPr lang="en-IN" sz="1800" dirty="0">
                <a:solidFill>
                  <a:srgbClr val="898989"/>
                </a:solidFill>
                <a:latin typeface="Calibri"/>
                <a:cs typeface="Calibri"/>
              </a:rPr>
              <a:t>-</a:t>
            </a:r>
            <a:r>
              <a:rPr lang="en-IN" sz="1800" spc="-20" dirty="0">
                <a:solidFill>
                  <a:srgbClr val="898989"/>
                </a:solidFill>
                <a:latin typeface="Calibri"/>
                <a:cs typeface="Calibri"/>
              </a:rPr>
              <a:t>2026</a:t>
            </a:r>
            <a:endParaRPr lang="en-IN" sz="1800" dirty="0">
              <a:latin typeface="Calibri"/>
              <a:cs typeface="Calibri"/>
            </a:endParaRPr>
          </a:p>
          <a:p>
            <a:pPr marL="12700">
              <a:lnSpc>
                <a:spcPct val="100000"/>
              </a:lnSpc>
              <a:spcBef>
                <a:spcPts val="100"/>
              </a:spcBef>
            </a:pPr>
            <a:endParaRPr sz="1800" dirty="0">
              <a:latin typeface="Calibri"/>
              <a:cs typeface="Calibri"/>
            </a:endParaRPr>
          </a:p>
        </p:txBody>
      </p:sp>
      <p:sp>
        <p:nvSpPr>
          <p:cNvPr id="4" name="TextBox 3"/>
          <p:cNvSpPr txBox="1"/>
          <p:nvPr/>
        </p:nvSpPr>
        <p:spPr>
          <a:xfrm>
            <a:off x="1280160" y="2286000"/>
            <a:ext cx="5120640" cy="6949440"/>
          </a:xfrm>
          <a:prstGeom prst="rect">
            <a:avLst/>
          </a:prstGeom>
          <a:noFill/>
        </p:spPr>
        <p:txBody>
          <a:bodyPr wrap="square"/>
          <a:lstStyle/>
          <a:p>
            <a:pPr marL="0" indent="0">
              <a:spcBef>
                <a:spcPts val="1400"/>
              </a:spcBef>
              <a:buNone/>
            </a:pPr>
            <a:r>
              <a:rPr lang="en-IN" sz="3000" b="1" dirty="0">
                <a:solidFill>
                  <a:srgbClr val="7030A0"/>
                </a:solidFill>
                <a:latin typeface="Times New Roman"/>
                <a:cs typeface="Times New Roman"/>
              </a:rPr>
              <a:t>Data Sources</a:t>
            </a:r>
          </a:p>
          <a:p>
            <a:pPr marL="457200" indent="-457200">
              <a:spcBef>
                <a:spcPts val="700"/>
              </a:spcBef>
              <a:buFont typeface="Arial"/>
              <a:buChar char="•"/>
            </a:pPr>
            <a:r>
              <a:rPr lang="en-IN" sz="2800" dirty="0">
                <a:latin typeface="Times New Roman"/>
                <a:cs typeface="Times New Roman"/>
              </a:rPr>
              <a:t>593 cleaned trip observations.</a:t>
            </a:r>
          </a:p>
          <a:p>
            <a:pPr marL="457200" indent="-457200">
              <a:spcBef>
                <a:spcPts val="700"/>
              </a:spcBef>
              <a:buFont typeface="Arial"/>
              <a:buChar char="•"/>
            </a:pPr>
            <a:r>
              <a:rPr lang="en-IN" sz="2800" dirty="0">
                <a:latin typeface="Times New Roman"/>
                <a:cs typeface="Times New Roman"/>
              </a:rPr>
              <a:t>10 bus corridors: 70, 101, 570, 18D, 21G, 23C, 27B, 5E, M1, P21.</a:t>
            </a:r>
          </a:p>
          <a:p>
            <a:pPr marL="457200" indent="-457200">
              <a:spcBef>
                <a:spcPts val="700"/>
              </a:spcBef>
              <a:buFont typeface="Arial"/>
              <a:buChar char="•"/>
            </a:pPr>
            <a:r>
              <a:rPr lang="en-IN" sz="2800" dirty="0">
                <a:latin typeface="Times New Roman"/>
                <a:cs typeface="Times New Roman"/>
              </a:rPr>
              <a:t>January to June 2025, 18 operating hours a day (05:00–22:00).</a:t>
            </a:r>
          </a:p>
          <a:p>
            <a:pPr marL="457200" indent="-457200">
              <a:spcBef>
                <a:spcPts val="700"/>
              </a:spcBef>
              <a:buFont typeface="Arial"/>
              <a:buChar char="•"/>
            </a:pPr>
            <a:r>
              <a:rPr lang="en-IN" sz="2800" dirty="0">
                <a:latin typeface="Times New Roman"/>
                <a:cs typeface="Times New Roman"/>
              </a:rPr>
              <a:t>Target: passengers per trip (5 to 138).</a:t>
            </a:r>
          </a:p>
        </p:txBody>
      </p:sp>
      <p:sp>
        <p:nvSpPr>
          <p:cNvPr id="5" name="TextBox 4"/>
          <p:cNvSpPr txBox="1"/>
          <p:nvPr/>
        </p:nvSpPr>
        <p:spPr>
          <a:xfrm>
            <a:off x="6720840" y="2286000"/>
            <a:ext cx="5120640" cy="6949440"/>
          </a:xfrm>
          <a:prstGeom prst="rect">
            <a:avLst/>
          </a:prstGeom>
          <a:noFill/>
        </p:spPr>
        <p:txBody>
          <a:bodyPr wrap="square"/>
          <a:lstStyle/>
          <a:p>
            <a:pPr marL="0" indent="0">
              <a:spcBef>
                <a:spcPts val="1400"/>
              </a:spcBef>
              <a:buNone/>
            </a:pPr>
            <a:r>
              <a:rPr lang="en-IN" sz="3000" b="1" dirty="0">
                <a:solidFill>
                  <a:srgbClr val="7030A0"/>
                </a:solidFill>
                <a:latin typeface="Times New Roman"/>
                <a:cs typeface="Times New Roman"/>
              </a:rPr>
              <a:t>Preprocessing</a:t>
            </a:r>
          </a:p>
          <a:p>
            <a:pPr marL="457200" indent="-457200">
              <a:spcBef>
                <a:spcPts val="700"/>
              </a:spcBef>
              <a:buFont typeface="Arial"/>
              <a:buChar char="•"/>
            </a:pPr>
            <a:r>
              <a:rPr lang="en-IN" sz="2800" dirty="0">
                <a:latin typeface="Times New Roman"/>
                <a:cs typeface="Times New Roman"/>
              </a:rPr>
              <a:t>Check passenger counts are non-negative and hours lie within 05:00–22:00.</a:t>
            </a:r>
          </a:p>
          <a:p>
            <a:pPr marL="457200" indent="-457200">
              <a:spcBef>
                <a:spcPts val="700"/>
              </a:spcBef>
              <a:buFont typeface="Arial"/>
              <a:buChar char="•"/>
            </a:pPr>
            <a:r>
              <a:rPr lang="en-IN" sz="2800" dirty="0">
                <a:latin typeface="Times New Roman"/>
                <a:cs typeface="Times New Roman"/>
              </a:rPr>
              <a:t>Validate weather and bus-type categories.</a:t>
            </a:r>
          </a:p>
          <a:p>
            <a:pPr marL="457200" indent="-457200">
              <a:spcBef>
                <a:spcPts val="700"/>
              </a:spcBef>
              <a:buFont typeface="Arial"/>
              <a:buChar char="•"/>
            </a:pPr>
            <a:r>
              <a:rPr lang="en-IN" sz="2800" dirty="0">
                <a:latin typeface="Times New Roman"/>
                <a:cs typeface="Times New Roman"/>
              </a:rPr>
              <a:t>Derive month, day, day of week, ISO week and weekend from the date.</a:t>
            </a:r>
          </a:p>
          <a:p>
            <a:pPr marL="457200" indent="-457200">
              <a:spcBef>
                <a:spcPts val="700"/>
              </a:spcBef>
              <a:buFont typeface="Arial"/>
              <a:buChar char="•"/>
            </a:pPr>
            <a:r>
              <a:rPr lang="en-IN" sz="2800" dirty="0">
                <a:latin typeface="Times New Roman"/>
                <a:cs typeface="Times New Roman"/>
              </a:rPr>
              <a:t>Flag peak hours (7–9 and 17–19).</a:t>
            </a:r>
          </a:p>
        </p:txBody>
      </p:sp>
      <p:sp>
        <p:nvSpPr>
          <p:cNvPr id="6" name="TextBox 5"/>
          <p:cNvSpPr txBox="1"/>
          <p:nvPr/>
        </p:nvSpPr>
        <p:spPr>
          <a:xfrm>
            <a:off x="12161520" y="2286000"/>
            <a:ext cx="5120640" cy="6949440"/>
          </a:xfrm>
          <a:prstGeom prst="rect">
            <a:avLst/>
          </a:prstGeom>
          <a:noFill/>
        </p:spPr>
        <p:txBody>
          <a:bodyPr wrap="square"/>
          <a:lstStyle/>
          <a:p>
            <a:pPr marL="0" indent="0">
              <a:spcBef>
                <a:spcPts val="1400"/>
              </a:spcBef>
              <a:buNone/>
            </a:pPr>
            <a:r>
              <a:rPr lang="en-IN" sz="3000" b="1" dirty="0">
                <a:solidFill>
                  <a:srgbClr val="7030A0"/>
                </a:solidFill>
                <a:latin typeface="Times New Roman"/>
                <a:cs typeface="Times New Roman"/>
              </a:rPr>
              <a:t>EDA Findings</a:t>
            </a:r>
          </a:p>
          <a:p>
            <a:pPr marL="457200" indent="-457200">
              <a:spcBef>
                <a:spcPts val="700"/>
              </a:spcBef>
              <a:buFont typeface="Arial"/>
              <a:buChar char="•"/>
            </a:pPr>
            <a:r>
              <a:rPr lang="en-IN" sz="2800" dirty="0">
                <a:latin typeface="Times New Roman"/>
                <a:cs typeface="Times New Roman"/>
              </a:rPr>
              <a:t>Route 570 averages 91.6 passengers; Route M1 only 44.2.</a:t>
            </a:r>
          </a:p>
          <a:p>
            <a:pPr marL="457200" indent="-457200">
              <a:spcBef>
                <a:spcPts val="700"/>
              </a:spcBef>
              <a:buFont typeface="Arial"/>
              <a:buChar char="•"/>
            </a:pPr>
            <a:r>
              <a:rPr lang="en-IN" sz="2800" dirty="0">
                <a:latin typeface="Times New Roman"/>
                <a:cs typeface="Times New Roman"/>
              </a:rPr>
              <a:t>Weekdays average 62.8 passengers; weekends 53.6.</a:t>
            </a:r>
          </a:p>
          <a:p>
            <a:pPr marL="457200" indent="-457200">
              <a:spcBef>
                <a:spcPts val="700"/>
              </a:spcBef>
              <a:buFont typeface="Arial"/>
              <a:buChar char="•"/>
            </a:pPr>
            <a:r>
              <a:rPr lang="en-IN" sz="2800" dirty="0">
                <a:latin typeface="Times New Roman"/>
                <a:cs typeface="Times New Roman"/>
              </a:rPr>
              <a:t>Public holidays average 48.2; regular days 60.8.</a:t>
            </a:r>
          </a:p>
          <a:p>
            <a:pPr marL="457200" indent="-457200">
              <a:spcBef>
                <a:spcPts val="700"/>
              </a:spcBef>
              <a:buFont typeface="Arial"/>
              <a:buChar char="•"/>
            </a:pPr>
            <a:r>
              <a:rPr lang="en-IN" sz="2800" dirty="0">
                <a:latin typeface="Times New Roman"/>
                <a:cs typeface="Times New Roman"/>
              </a:rPr>
              <a:t>Trips split Low 23.3%, Medium 54.5%, High 22.3%.</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371600" y="0"/>
            <a:ext cx="15544800" cy="1638951"/>
          </a:xfrm>
          <a:prstGeom prst="rect">
            <a:avLst/>
          </a:prstGeom>
        </p:spPr>
        <p:txBody>
          <a:bodyPr vert="horz" wrap="square" lIns="0" tIns="160060" rIns="0" bIns="0" rtlCol="0">
            <a:spAutoFit/>
          </a:bodyPr>
          <a:lstStyle/>
          <a:p>
            <a:pPr marL="0" indent="0" algn="ctr">
              <a:lnSpc>
                <a:spcPct val="100000"/>
              </a:lnSpc>
              <a:spcBef>
                <a:spcPts val="100"/>
              </a:spcBef>
            </a:pPr>
            <a:br>
              <a:rPr lang="en-IN" dirty="0"/>
            </a:br>
            <a:r>
              <a:rPr lang="en-IN" dirty="0"/>
              <a:t>Feature Engineering &amp; Training</a:t>
            </a:r>
          </a:p>
        </p:txBody>
      </p:sp>
      <p:sp>
        <p:nvSpPr>
          <p:cNvPr id="3" name="object 3"/>
          <p:cNvSpPr txBox="1"/>
          <p:nvPr/>
        </p:nvSpPr>
        <p:spPr>
          <a:xfrm>
            <a:off x="1244599" y="9493250"/>
            <a:ext cx="1092835" cy="579646"/>
          </a:xfrm>
          <a:prstGeom prst="rect">
            <a:avLst/>
          </a:prstGeom>
        </p:spPr>
        <p:txBody>
          <a:bodyPr vert="horz" wrap="square" lIns="0" tIns="12700" rIns="0" bIns="0" rtlCol="0">
            <a:spAutoFit/>
          </a:bodyPr>
          <a:lstStyle/>
          <a:p>
            <a:pPr marL="12700" algn="just">
              <a:spcBef>
                <a:spcPts val="100"/>
              </a:spcBef>
            </a:pPr>
            <a:r>
              <a:rPr lang="en-IN" dirty="0">
                <a:solidFill>
                  <a:srgbClr val="898989"/>
                </a:solidFill>
                <a:latin typeface="Calibri"/>
                <a:cs typeface="Calibri"/>
              </a:rPr>
              <a:t>28-10</a:t>
            </a:r>
            <a:r>
              <a:rPr lang="en-IN" sz="1800" dirty="0">
                <a:solidFill>
                  <a:srgbClr val="898989"/>
                </a:solidFill>
                <a:latin typeface="Calibri"/>
                <a:cs typeface="Calibri"/>
              </a:rPr>
              <a:t>-</a:t>
            </a:r>
            <a:r>
              <a:rPr lang="en-IN" sz="1800" spc="-20" dirty="0">
                <a:solidFill>
                  <a:srgbClr val="898989"/>
                </a:solidFill>
                <a:latin typeface="Calibri"/>
                <a:cs typeface="Calibri"/>
              </a:rPr>
              <a:t>2026</a:t>
            </a:r>
            <a:endParaRPr lang="en-IN" sz="1800" dirty="0">
              <a:latin typeface="Calibri"/>
              <a:cs typeface="Calibri"/>
            </a:endParaRPr>
          </a:p>
          <a:p>
            <a:pPr marL="12700" algn="just">
              <a:lnSpc>
                <a:spcPct val="100000"/>
              </a:lnSpc>
              <a:spcBef>
                <a:spcPts val="100"/>
              </a:spcBef>
            </a:pPr>
            <a:endParaRPr sz="1800" dirty="0">
              <a:latin typeface="Calibri"/>
              <a:cs typeface="Calibri"/>
            </a:endParaRPr>
          </a:p>
        </p:txBody>
      </p:sp>
      <p:sp>
        <p:nvSpPr>
          <p:cNvPr id="4" name="TextBox 3"/>
          <p:cNvSpPr txBox="1"/>
          <p:nvPr/>
        </p:nvSpPr>
        <p:spPr>
          <a:xfrm>
            <a:off x="1371600" y="2286000"/>
            <a:ext cx="7680960" cy="6949440"/>
          </a:xfrm>
          <a:prstGeom prst="rect">
            <a:avLst/>
          </a:prstGeom>
          <a:noFill/>
        </p:spPr>
        <p:txBody>
          <a:bodyPr wrap="square"/>
          <a:lstStyle/>
          <a:p>
            <a:pPr marL="0" indent="0" algn="just">
              <a:spcBef>
                <a:spcPts val="1400"/>
              </a:spcBef>
              <a:buNone/>
            </a:pPr>
            <a:r>
              <a:rPr lang="en-IN" sz="3400" b="1" dirty="0">
                <a:solidFill>
                  <a:srgbClr val="7030A0"/>
                </a:solidFill>
                <a:latin typeface="Times New Roman"/>
                <a:cs typeface="Times New Roman"/>
              </a:rPr>
              <a:t>Feature Engineering</a:t>
            </a:r>
          </a:p>
          <a:p>
            <a:pPr marL="457200" indent="-457200" algn="just">
              <a:spcBef>
                <a:spcPts val="700"/>
              </a:spcBef>
              <a:buFont typeface="Arial"/>
              <a:buChar char="•"/>
            </a:pPr>
            <a:r>
              <a:rPr lang="en-IN" sz="3200" dirty="0">
                <a:latin typeface="Times New Roman"/>
                <a:cs typeface="Times New Roman"/>
              </a:rPr>
              <a:t>11 features: route, weather, bus type, hour, day of week, holiday, peak hour, weekend, month, day, week of year.</a:t>
            </a:r>
          </a:p>
          <a:p>
            <a:pPr marL="457200" indent="-457200" algn="just">
              <a:spcBef>
                <a:spcPts val="700"/>
              </a:spcBef>
              <a:buFont typeface="Arial"/>
              <a:buChar char="•"/>
            </a:pPr>
            <a:r>
              <a:rPr lang="en-IN" sz="3200" dirty="0">
                <a:latin typeface="Times New Roman"/>
                <a:cs typeface="Times New Roman"/>
              </a:rPr>
              <a:t>Route, weather and bus type are one-hot encoded.</a:t>
            </a:r>
          </a:p>
          <a:p>
            <a:pPr marL="457200" indent="-457200" algn="just">
              <a:spcBef>
                <a:spcPts val="700"/>
              </a:spcBef>
              <a:buFont typeface="Arial"/>
              <a:buChar char="•"/>
            </a:pPr>
            <a:r>
              <a:rPr lang="en-IN" sz="3200" dirty="0">
                <a:latin typeface="Times New Roman"/>
                <a:cs typeface="Times New Roman"/>
              </a:rPr>
              <a:t>Numerical and indicator features pass through the ColumnTransformer.</a:t>
            </a:r>
          </a:p>
          <a:p>
            <a:pPr marL="457200" indent="-457200" algn="just">
              <a:spcBef>
                <a:spcPts val="700"/>
              </a:spcBef>
              <a:buFont typeface="Arial"/>
              <a:buChar char="•"/>
            </a:pPr>
            <a:r>
              <a:rPr lang="en-IN" sz="3200" dirty="0">
                <a:latin typeface="Times New Roman"/>
                <a:cs typeface="Times New Roman"/>
              </a:rPr>
              <a:t>Calendar features are derived automatically from the trip date.</a:t>
            </a:r>
          </a:p>
        </p:txBody>
      </p:sp>
      <p:sp>
        <p:nvSpPr>
          <p:cNvPr id="5" name="TextBox 4"/>
          <p:cNvSpPr txBox="1"/>
          <p:nvPr/>
        </p:nvSpPr>
        <p:spPr>
          <a:xfrm>
            <a:off x="9418320" y="2286000"/>
            <a:ext cx="7680960" cy="6949440"/>
          </a:xfrm>
          <a:prstGeom prst="rect">
            <a:avLst/>
          </a:prstGeom>
          <a:noFill/>
        </p:spPr>
        <p:txBody>
          <a:bodyPr wrap="square"/>
          <a:lstStyle/>
          <a:p>
            <a:pPr marL="0" indent="0" algn="just">
              <a:spcBef>
                <a:spcPts val="1400"/>
              </a:spcBef>
              <a:buNone/>
            </a:pPr>
            <a:r>
              <a:rPr lang="en-IN" sz="3400" b="1" dirty="0">
                <a:solidFill>
                  <a:srgbClr val="7030A0"/>
                </a:solidFill>
                <a:latin typeface="Times New Roman"/>
                <a:cs typeface="Times New Roman"/>
              </a:rPr>
              <a:t>Training Pipeline</a:t>
            </a:r>
          </a:p>
          <a:p>
            <a:pPr marL="457200" indent="-457200" algn="just">
              <a:spcBef>
                <a:spcPts val="700"/>
              </a:spcBef>
              <a:buFont typeface="Arial"/>
              <a:buChar char="•"/>
            </a:pPr>
            <a:r>
              <a:rPr lang="en-IN" sz="3200" dirty="0">
                <a:latin typeface="Times New Roman"/>
                <a:cs typeface="Times New Roman"/>
              </a:rPr>
              <a:t>Compare Linear Regression, Random Forest and Gradient Boosting.</a:t>
            </a:r>
          </a:p>
          <a:p>
            <a:pPr marL="457200" indent="-457200" algn="just">
              <a:spcBef>
                <a:spcPts val="700"/>
              </a:spcBef>
              <a:buFont typeface="Arial"/>
              <a:buChar char="•"/>
            </a:pPr>
            <a:r>
              <a:rPr lang="en-IN" sz="3200" dirty="0">
                <a:latin typeface="Times New Roman"/>
                <a:cs typeface="Times New Roman"/>
              </a:rPr>
              <a:t>Evaluate with R², MAE and RMSE on held-out data.</a:t>
            </a:r>
          </a:p>
          <a:p>
            <a:pPr marL="457200" indent="-457200" algn="just">
              <a:spcBef>
                <a:spcPts val="700"/>
              </a:spcBef>
              <a:buFont typeface="Arial"/>
              <a:buChar char="•"/>
            </a:pPr>
            <a:r>
              <a:rPr lang="en-IN" sz="3200" dirty="0">
                <a:latin typeface="Times New Roman"/>
                <a:cs typeface="Times New Roman"/>
              </a:rPr>
              <a:t>Linear Regression selected: R² 0.8663 vs 0.8640 (Gradient Boosting) and 0.8384 (Random Forest).</a:t>
            </a:r>
          </a:p>
          <a:p>
            <a:pPr marL="457200" indent="-457200" algn="just">
              <a:spcBef>
                <a:spcPts val="700"/>
              </a:spcBef>
              <a:buFont typeface="Arial"/>
              <a:buChar char="•"/>
            </a:pPr>
            <a:r>
              <a:rPr lang="en-IN" sz="3200" dirty="0">
                <a:latin typeface="Times New Roman"/>
                <a:cs typeface="Times New Roman"/>
              </a:rPr>
              <a:t>Save the pipeline with Joblib as bus_passenger_demand_model.pkl, loaded once by Flask.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794870" y="844253"/>
            <a:ext cx="6241415" cy="1490152"/>
          </a:xfrm>
          <a:prstGeom prst="rect">
            <a:avLst/>
          </a:prstGeom>
        </p:spPr>
        <p:txBody>
          <a:bodyPr vert="horz" wrap="square" lIns="0" tIns="12700" rIns="0" bIns="0" rtlCol="0">
            <a:spAutoFit/>
          </a:bodyPr>
          <a:lstStyle/>
          <a:p>
            <a:pPr marL="12700" algn="ctr">
              <a:lnSpc>
                <a:spcPct val="100000"/>
              </a:lnSpc>
              <a:spcBef>
                <a:spcPts val="100"/>
              </a:spcBef>
            </a:pPr>
            <a:r>
              <a:rPr lang="en-IN" dirty="0"/>
              <a:t>Technology </a:t>
            </a:r>
            <a:r>
              <a:rPr lang="en-IN" spc="-20" dirty="0"/>
              <a:t>Used</a:t>
            </a:r>
            <a:br>
              <a:rPr lang="en-IN" spc="-20" dirty="0"/>
            </a:br>
            <a:endParaRPr spc="-20" dirty="0"/>
          </a:p>
        </p:txBody>
      </p:sp>
      <p:sp>
        <p:nvSpPr>
          <p:cNvPr id="3" name="object 3"/>
          <p:cNvSpPr txBox="1"/>
          <p:nvPr/>
        </p:nvSpPr>
        <p:spPr>
          <a:xfrm>
            <a:off x="1244599" y="9359900"/>
            <a:ext cx="1092835" cy="579646"/>
          </a:xfrm>
          <a:prstGeom prst="rect">
            <a:avLst/>
          </a:prstGeom>
        </p:spPr>
        <p:txBody>
          <a:bodyPr vert="horz" wrap="square" lIns="0" tIns="12700" rIns="0" bIns="0" rtlCol="0">
            <a:spAutoFit/>
          </a:bodyPr>
          <a:lstStyle/>
          <a:p>
            <a:pPr marL="12700">
              <a:spcBef>
                <a:spcPts val="100"/>
              </a:spcBef>
            </a:pPr>
            <a:r>
              <a:rPr lang="en-IN" dirty="0">
                <a:solidFill>
                  <a:srgbClr val="898989"/>
                </a:solidFill>
                <a:latin typeface="Calibri"/>
                <a:cs typeface="Calibri"/>
              </a:rPr>
              <a:t>28-10</a:t>
            </a:r>
            <a:r>
              <a:rPr lang="en-IN" sz="1800" dirty="0">
                <a:solidFill>
                  <a:srgbClr val="898989"/>
                </a:solidFill>
                <a:latin typeface="Calibri"/>
                <a:cs typeface="Calibri"/>
              </a:rPr>
              <a:t>-</a:t>
            </a:r>
            <a:r>
              <a:rPr lang="en-IN" sz="1800" spc="-20" dirty="0">
                <a:solidFill>
                  <a:srgbClr val="898989"/>
                </a:solidFill>
                <a:latin typeface="Calibri"/>
                <a:cs typeface="Calibri"/>
              </a:rPr>
              <a:t>2026</a:t>
            </a:r>
            <a:endParaRPr lang="en-IN" sz="1800" dirty="0">
              <a:latin typeface="Calibri"/>
              <a:cs typeface="Calibri"/>
            </a:endParaRPr>
          </a:p>
          <a:p>
            <a:pPr marL="12700">
              <a:lnSpc>
                <a:spcPct val="100000"/>
              </a:lnSpc>
              <a:spcBef>
                <a:spcPts val="100"/>
              </a:spcBef>
            </a:pPr>
            <a:endParaRPr sz="1800" dirty="0">
              <a:latin typeface="Calibri"/>
              <a:cs typeface="Calibri"/>
            </a:endParaRPr>
          </a:p>
        </p:txBody>
      </p:sp>
      <p:sp>
        <p:nvSpPr>
          <p:cNvPr id="5" name="object 5"/>
          <p:cNvSpPr txBox="1"/>
          <p:nvPr/>
        </p:nvSpPr>
        <p:spPr>
          <a:xfrm>
            <a:off x="3048000" y="1626826"/>
            <a:ext cx="12149359" cy="6693499"/>
          </a:xfrm>
          <a:prstGeom prst="rect">
            <a:avLst/>
          </a:prstGeom>
        </p:spPr>
        <p:txBody>
          <a:bodyPr vert="horz" wrap="square" lIns="0" tIns="227965" rIns="0" bIns="0" rtlCol="0">
            <a:spAutoFit/>
          </a:bodyPr>
          <a:lstStyle/>
          <a:p>
            <a:pPr marL="457200" indent="-457200">
              <a:buFont typeface="Arial" panose="020B0604020202020204" pitchFamily="34" charset="0"/>
              <a:buChar char="•"/>
            </a:pPr>
            <a:endParaRPr lang="en-IN"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Frontend: HTML5 / CSS3 / JavaScript (Vanilla JS + Chart.js) (Interactive dashboard and data visualization)</a:t>
            </a: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Backend: Flask 3.x + Flask-CORS  (REST API and prediction services)</a:t>
            </a: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Database: File-based (CSV + Joblib .pkl) (Storage for passenger data and prediction results)</a:t>
            </a: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Machine Learning: Scikit-learn (Linear Regression, Random Forest, Gradient Boosting)</a:t>
            </a: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Data Processing: Pandas, NumPy (Data cleaning, preprocessing, and feature engineering)</a:t>
            </a: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Data Visualization: Chart.js (browser-side) + Pandas / NumPy (server-side data processing)</a:t>
            </a: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Model Evaluation: Scikit-learn Metrics (MAE, MSE, RMSE, R² Score)</a:t>
            </a: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Deployment: Joblib (model serialization) — served locally at http://127.0.0.1:5000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371600" y="0"/>
            <a:ext cx="15544800" cy="1638951"/>
          </a:xfrm>
          <a:prstGeom prst="rect">
            <a:avLst/>
          </a:prstGeom>
        </p:spPr>
        <p:txBody>
          <a:bodyPr vert="horz" wrap="square" lIns="0" tIns="160060" rIns="0" bIns="0" rtlCol="0">
            <a:spAutoFit/>
          </a:bodyPr>
          <a:lstStyle/>
          <a:p>
            <a:pPr marL="0" indent="0" algn="ctr">
              <a:lnSpc>
                <a:spcPct val="100000"/>
              </a:lnSpc>
              <a:spcBef>
                <a:spcPts val="100"/>
              </a:spcBef>
            </a:pPr>
            <a:br>
              <a:rPr lang="en-IN" dirty="0"/>
            </a:br>
            <a:r>
              <a:rPr lang="en-IN" dirty="0"/>
              <a:t>Important Features &amp; End Users</a:t>
            </a:r>
          </a:p>
        </p:txBody>
      </p:sp>
      <p:sp>
        <p:nvSpPr>
          <p:cNvPr id="3" name="object 3"/>
          <p:cNvSpPr txBox="1"/>
          <p:nvPr/>
        </p:nvSpPr>
        <p:spPr>
          <a:xfrm>
            <a:off x="1244599" y="9493250"/>
            <a:ext cx="1092835" cy="579646"/>
          </a:xfrm>
          <a:prstGeom prst="rect">
            <a:avLst/>
          </a:prstGeom>
        </p:spPr>
        <p:txBody>
          <a:bodyPr vert="horz" wrap="square" lIns="0" tIns="12700" rIns="0" bIns="0" rtlCol="0">
            <a:spAutoFit/>
          </a:bodyPr>
          <a:lstStyle/>
          <a:p>
            <a:pPr marL="12700">
              <a:spcBef>
                <a:spcPts val="100"/>
              </a:spcBef>
            </a:pPr>
            <a:r>
              <a:rPr lang="en-IN" dirty="0">
                <a:solidFill>
                  <a:srgbClr val="898989"/>
                </a:solidFill>
                <a:latin typeface="Calibri"/>
                <a:cs typeface="Calibri"/>
              </a:rPr>
              <a:t>28-10</a:t>
            </a:r>
            <a:r>
              <a:rPr lang="en-IN" sz="1800" dirty="0">
                <a:solidFill>
                  <a:srgbClr val="898989"/>
                </a:solidFill>
                <a:latin typeface="Calibri"/>
                <a:cs typeface="Calibri"/>
              </a:rPr>
              <a:t>-</a:t>
            </a:r>
            <a:r>
              <a:rPr lang="en-IN" sz="1800" spc="-20" dirty="0">
                <a:solidFill>
                  <a:srgbClr val="898989"/>
                </a:solidFill>
                <a:latin typeface="Calibri"/>
                <a:cs typeface="Calibri"/>
              </a:rPr>
              <a:t>2026</a:t>
            </a:r>
            <a:endParaRPr lang="en-IN" sz="1800" dirty="0">
              <a:latin typeface="Calibri"/>
              <a:cs typeface="Calibri"/>
            </a:endParaRPr>
          </a:p>
          <a:p>
            <a:pPr marL="12700">
              <a:lnSpc>
                <a:spcPct val="100000"/>
              </a:lnSpc>
              <a:spcBef>
                <a:spcPts val="100"/>
              </a:spcBef>
            </a:pPr>
            <a:endParaRPr sz="1800" dirty="0">
              <a:latin typeface="Calibri"/>
              <a:cs typeface="Calibri"/>
            </a:endParaRPr>
          </a:p>
        </p:txBody>
      </p:sp>
      <p:sp>
        <p:nvSpPr>
          <p:cNvPr id="4" name="TextBox 3"/>
          <p:cNvSpPr txBox="1"/>
          <p:nvPr/>
        </p:nvSpPr>
        <p:spPr>
          <a:xfrm>
            <a:off x="1371600" y="2286000"/>
            <a:ext cx="7680960" cy="6949440"/>
          </a:xfrm>
          <a:prstGeom prst="rect">
            <a:avLst/>
          </a:prstGeom>
          <a:noFill/>
        </p:spPr>
        <p:txBody>
          <a:bodyPr wrap="square"/>
          <a:lstStyle/>
          <a:p>
            <a:pPr marL="0" indent="0">
              <a:spcBef>
                <a:spcPts val="1400"/>
              </a:spcBef>
              <a:buNone/>
            </a:pPr>
            <a:r>
              <a:rPr lang="en-IN" sz="3400" b="1" dirty="0">
                <a:solidFill>
                  <a:srgbClr val="7030A0"/>
                </a:solidFill>
                <a:latin typeface="Times New Roman"/>
                <a:cs typeface="Times New Roman"/>
              </a:rPr>
              <a:t>Important Features</a:t>
            </a:r>
          </a:p>
          <a:p>
            <a:pPr marL="457200" indent="-457200">
              <a:spcBef>
                <a:spcPts val="700"/>
              </a:spcBef>
              <a:buFont typeface="Arial"/>
              <a:buChar char="•"/>
            </a:pPr>
            <a:r>
              <a:rPr lang="en-IN" sz="3200" dirty="0">
                <a:latin typeface="Times New Roman"/>
                <a:cs typeface="Times New Roman"/>
              </a:rPr>
              <a:t>Single-trip passenger prediction with presets.</a:t>
            </a:r>
          </a:p>
          <a:p>
            <a:pPr marL="457200" indent="-457200">
              <a:spcBef>
                <a:spcPts val="700"/>
              </a:spcBef>
              <a:buFont typeface="Arial"/>
              <a:buChar char="•"/>
            </a:pPr>
            <a:r>
              <a:rPr lang="en-IN" sz="3200" dirty="0">
                <a:latin typeface="Times New Roman"/>
                <a:cs typeface="Times New Roman"/>
              </a:rPr>
              <a:t>24-hour hourly demand simulation.</a:t>
            </a:r>
          </a:p>
          <a:p>
            <a:pPr marL="457200" indent="-457200">
              <a:spcBef>
                <a:spcPts val="700"/>
              </a:spcBef>
              <a:buFont typeface="Arial"/>
              <a:buChar char="•"/>
            </a:pPr>
            <a:r>
              <a:rPr lang="en-IN" sz="3200" dirty="0">
                <a:latin typeface="Times New Roman"/>
                <a:cs typeface="Times New Roman"/>
              </a:rPr>
              <a:t>Route comparison across 10 corridors.</a:t>
            </a:r>
          </a:p>
          <a:p>
            <a:pPr marL="457200" indent="-457200">
              <a:spcBef>
                <a:spcPts val="700"/>
              </a:spcBef>
              <a:buFont typeface="Arial"/>
              <a:buChar char="•"/>
            </a:pPr>
            <a:r>
              <a:rPr lang="en-IN" sz="3200" dirty="0">
                <a:latin typeface="Times New Roman"/>
                <a:cs typeface="Times New Roman"/>
              </a:rPr>
              <a:t>Dataset insights and analytics.</a:t>
            </a:r>
          </a:p>
          <a:p>
            <a:pPr marL="457200" indent="-457200">
              <a:spcBef>
                <a:spcPts val="700"/>
              </a:spcBef>
              <a:buFont typeface="Arial"/>
              <a:buChar char="•"/>
            </a:pPr>
            <a:r>
              <a:rPr lang="en-IN" sz="3200" dirty="0">
                <a:latin typeface="Times New Roman"/>
                <a:cs typeface="Times New Roman"/>
              </a:rPr>
              <a:t>Model benchmark view.</a:t>
            </a:r>
          </a:p>
          <a:p>
            <a:pPr marL="457200" indent="-457200">
              <a:spcBef>
                <a:spcPts val="700"/>
              </a:spcBef>
              <a:buFont typeface="Arial"/>
              <a:buChar char="•"/>
            </a:pPr>
            <a:r>
              <a:rPr lang="en-IN" sz="3200" dirty="0">
                <a:latin typeface="Times New Roman"/>
                <a:cs typeface="Times New Roman"/>
              </a:rPr>
              <a:t>Demand tier with bus type and headway advice.</a:t>
            </a:r>
          </a:p>
        </p:txBody>
      </p:sp>
      <p:sp>
        <p:nvSpPr>
          <p:cNvPr id="5" name="TextBox 4"/>
          <p:cNvSpPr txBox="1"/>
          <p:nvPr/>
        </p:nvSpPr>
        <p:spPr>
          <a:xfrm>
            <a:off x="9418320" y="2286000"/>
            <a:ext cx="7680960" cy="6949440"/>
          </a:xfrm>
          <a:prstGeom prst="rect">
            <a:avLst/>
          </a:prstGeom>
          <a:noFill/>
        </p:spPr>
        <p:txBody>
          <a:bodyPr wrap="square"/>
          <a:lstStyle/>
          <a:p>
            <a:pPr marL="0" indent="0">
              <a:spcBef>
                <a:spcPts val="1400"/>
              </a:spcBef>
              <a:buNone/>
            </a:pPr>
            <a:r>
              <a:rPr lang="en-IN" sz="3400" b="1" dirty="0">
                <a:solidFill>
                  <a:srgbClr val="7030A0"/>
                </a:solidFill>
                <a:latin typeface="Times New Roman"/>
                <a:cs typeface="Times New Roman"/>
              </a:rPr>
              <a:t>End Users &amp; Benefits</a:t>
            </a:r>
          </a:p>
          <a:p>
            <a:pPr marL="457200" indent="-457200">
              <a:spcBef>
                <a:spcPts val="700"/>
              </a:spcBef>
              <a:buFont typeface="Arial"/>
              <a:buChar char="•"/>
            </a:pPr>
            <a:r>
              <a:rPr lang="en-IN" sz="3200" b="1" dirty="0">
                <a:latin typeface="Times New Roman"/>
                <a:cs typeface="Times New Roman"/>
              </a:rPr>
              <a:t>Transit authorities: </a:t>
            </a:r>
            <a:r>
              <a:rPr lang="en-IN" sz="3200" dirty="0">
                <a:latin typeface="Times New Roman"/>
                <a:cs typeface="Times New Roman"/>
              </a:rPr>
              <a:t>plan fleet and headways from forecasts.</a:t>
            </a:r>
          </a:p>
          <a:p>
            <a:pPr marL="457200" indent="-457200">
              <a:spcBef>
                <a:spcPts val="700"/>
              </a:spcBef>
              <a:buFont typeface="Arial"/>
              <a:buChar char="•"/>
            </a:pPr>
            <a:r>
              <a:rPr lang="en-IN" sz="3200" b="1" dirty="0">
                <a:latin typeface="Times New Roman"/>
                <a:cs typeface="Times New Roman"/>
              </a:rPr>
              <a:t>Dispatchers: </a:t>
            </a:r>
            <a:r>
              <a:rPr lang="en-IN" sz="3200" dirty="0">
                <a:latin typeface="Times New Roman"/>
                <a:cs typeface="Times New Roman"/>
              </a:rPr>
              <a:t>choose bus type for a given trip quickly.</a:t>
            </a:r>
          </a:p>
          <a:p>
            <a:pPr marL="457200" indent="-457200">
              <a:spcBef>
                <a:spcPts val="700"/>
              </a:spcBef>
              <a:buFont typeface="Arial"/>
              <a:buChar char="•"/>
            </a:pPr>
            <a:r>
              <a:rPr lang="en-IN" sz="3200" b="1" dirty="0">
                <a:latin typeface="Times New Roman"/>
                <a:cs typeface="Times New Roman"/>
              </a:rPr>
              <a:t>Route planners: </a:t>
            </a:r>
            <a:r>
              <a:rPr lang="en-IN" sz="3200" dirty="0">
                <a:latin typeface="Times New Roman"/>
                <a:cs typeface="Times New Roman"/>
              </a:rPr>
              <a:t>compare corridors and find peak windows.</a:t>
            </a:r>
          </a:p>
          <a:p>
            <a:pPr marL="457200" indent="-457200">
              <a:spcBef>
                <a:spcPts val="700"/>
              </a:spcBef>
              <a:buFont typeface="Arial"/>
              <a:buChar char="•"/>
            </a:pPr>
            <a:r>
              <a:rPr lang="en-IN" sz="3200" b="1" dirty="0">
                <a:latin typeface="Times New Roman"/>
                <a:cs typeface="Times New Roman"/>
              </a:rPr>
              <a:t>Operations supervisors: </a:t>
            </a:r>
            <a:r>
              <a:rPr lang="en-IN" sz="3200" dirty="0">
                <a:latin typeface="Times New Roman"/>
                <a:cs typeface="Times New Roman"/>
              </a:rPr>
              <a:t>simulate a full day of demand.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371600" y="0"/>
            <a:ext cx="15544800" cy="1638951"/>
          </a:xfrm>
          <a:prstGeom prst="rect">
            <a:avLst/>
          </a:prstGeom>
        </p:spPr>
        <p:txBody>
          <a:bodyPr vert="horz" wrap="square" lIns="0" tIns="160060" rIns="0" bIns="0" rtlCol="0">
            <a:spAutoFit/>
          </a:bodyPr>
          <a:lstStyle/>
          <a:p>
            <a:pPr marL="0" indent="0" algn="ctr">
              <a:lnSpc>
                <a:spcPct val="100000"/>
              </a:lnSpc>
              <a:spcBef>
                <a:spcPts val="100"/>
              </a:spcBef>
            </a:pPr>
            <a:br>
              <a:rPr lang="en-IN" dirty="0"/>
            </a:br>
            <a:r>
              <a:rPr lang="en-IN" dirty="0"/>
              <a:t>Results</a:t>
            </a:r>
          </a:p>
        </p:txBody>
      </p:sp>
      <p:sp>
        <p:nvSpPr>
          <p:cNvPr id="3" name="object 3"/>
          <p:cNvSpPr txBox="1"/>
          <p:nvPr/>
        </p:nvSpPr>
        <p:spPr>
          <a:xfrm>
            <a:off x="1244599" y="9493250"/>
            <a:ext cx="1092835" cy="579646"/>
          </a:xfrm>
          <a:prstGeom prst="rect">
            <a:avLst/>
          </a:prstGeom>
        </p:spPr>
        <p:txBody>
          <a:bodyPr vert="horz" wrap="square" lIns="0" tIns="12700" rIns="0" bIns="0" rtlCol="0">
            <a:spAutoFit/>
          </a:bodyPr>
          <a:lstStyle/>
          <a:p>
            <a:pPr marL="12700">
              <a:spcBef>
                <a:spcPts val="100"/>
              </a:spcBef>
            </a:pPr>
            <a:r>
              <a:rPr lang="en-IN" dirty="0">
                <a:solidFill>
                  <a:srgbClr val="898989"/>
                </a:solidFill>
                <a:latin typeface="Calibri"/>
                <a:cs typeface="Calibri"/>
              </a:rPr>
              <a:t>28-10</a:t>
            </a:r>
            <a:r>
              <a:rPr lang="en-IN" sz="1800" dirty="0">
                <a:solidFill>
                  <a:srgbClr val="898989"/>
                </a:solidFill>
                <a:latin typeface="Calibri"/>
                <a:cs typeface="Calibri"/>
              </a:rPr>
              <a:t>-</a:t>
            </a:r>
            <a:r>
              <a:rPr lang="en-IN" sz="1800" spc="-20" dirty="0">
                <a:solidFill>
                  <a:srgbClr val="898989"/>
                </a:solidFill>
                <a:latin typeface="Calibri"/>
                <a:cs typeface="Calibri"/>
              </a:rPr>
              <a:t>2026</a:t>
            </a:r>
            <a:endParaRPr lang="en-IN" sz="1800" dirty="0">
              <a:latin typeface="Calibri"/>
              <a:cs typeface="Calibri"/>
            </a:endParaRPr>
          </a:p>
          <a:p>
            <a:pPr marL="12700">
              <a:lnSpc>
                <a:spcPct val="100000"/>
              </a:lnSpc>
              <a:spcBef>
                <a:spcPts val="100"/>
              </a:spcBef>
            </a:pPr>
            <a:endParaRPr sz="1800" dirty="0">
              <a:latin typeface="Calibri"/>
              <a:cs typeface="Calibri"/>
            </a:endParaRPr>
          </a:p>
        </p:txBody>
      </p:sp>
      <p:pic>
        <p:nvPicPr>
          <p:cNvPr id="4" name="Picture 3" descr="Single trip prediction screen"/>
          <p:cNvPicPr>
            <a:picLocks noChangeAspect="1"/>
          </p:cNvPicPr>
          <p:nvPr/>
        </p:nvPicPr>
        <p:blipFill>
          <a:blip r:embed="rId2"/>
          <a:stretch>
            <a:fillRect/>
          </a:stretch>
        </p:blipFill>
        <p:spPr>
          <a:xfrm>
            <a:off x="1657350" y="2240280"/>
            <a:ext cx="6195060" cy="2971800"/>
          </a:xfrm>
          <a:prstGeom prst="rect">
            <a:avLst/>
          </a:prstGeom>
        </p:spPr>
      </p:pic>
      <p:sp>
        <p:nvSpPr>
          <p:cNvPr id="5" name="TextBox 4"/>
          <p:cNvSpPr txBox="1"/>
          <p:nvPr/>
        </p:nvSpPr>
        <p:spPr>
          <a:xfrm>
            <a:off x="1828800" y="5230368"/>
            <a:ext cx="5852160" cy="457200"/>
          </a:xfrm>
          <a:prstGeom prst="rect">
            <a:avLst/>
          </a:prstGeom>
          <a:noFill/>
        </p:spPr>
        <p:txBody>
          <a:bodyPr wrap="square"/>
          <a:lstStyle/>
          <a:p>
            <a:pPr marL="0" indent="0" algn="ctr">
              <a:spcBef>
                <a:spcPts val="900"/>
              </a:spcBef>
              <a:buNone/>
            </a:pPr>
            <a:r>
              <a:rPr lang="en-IN" sz="2000" i="1" dirty="0">
                <a:latin typeface="Times New Roman"/>
                <a:cs typeface="Times New Roman"/>
              </a:rPr>
              <a:t>Single trip prediction</a:t>
            </a:r>
          </a:p>
        </p:txBody>
      </p:sp>
      <p:pic>
        <p:nvPicPr>
          <p:cNvPr id="6" name="Picture 5" descr="24-hour hourly demand simulation"/>
          <p:cNvPicPr>
            <a:picLocks noChangeAspect="1"/>
          </p:cNvPicPr>
          <p:nvPr/>
        </p:nvPicPr>
        <p:blipFill>
          <a:blip r:embed="rId3"/>
          <a:stretch>
            <a:fillRect/>
          </a:stretch>
        </p:blipFill>
        <p:spPr>
          <a:xfrm>
            <a:off x="10443670" y="2240280"/>
            <a:ext cx="5630258" cy="2971800"/>
          </a:xfrm>
          <a:prstGeom prst="rect">
            <a:avLst/>
          </a:prstGeom>
        </p:spPr>
      </p:pic>
      <p:sp>
        <p:nvSpPr>
          <p:cNvPr id="7" name="TextBox 6"/>
          <p:cNvSpPr txBox="1"/>
          <p:nvPr/>
        </p:nvSpPr>
        <p:spPr>
          <a:xfrm>
            <a:off x="10332720" y="5230368"/>
            <a:ext cx="5852160" cy="457200"/>
          </a:xfrm>
          <a:prstGeom prst="rect">
            <a:avLst/>
          </a:prstGeom>
          <a:noFill/>
        </p:spPr>
        <p:txBody>
          <a:bodyPr wrap="square"/>
          <a:lstStyle/>
          <a:p>
            <a:pPr marL="0" indent="0" algn="ctr">
              <a:spcBef>
                <a:spcPts val="900"/>
              </a:spcBef>
              <a:buNone/>
            </a:pPr>
            <a:r>
              <a:rPr lang="en-IN" sz="2000" i="1" dirty="0">
                <a:latin typeface="Times New Roman"/>
                <a:cs typeface="Times New Roman"/>
              </a:rPr>
              <a:t>24h hourly demand simulation</a:t>
            </a:r>
          </a:p>
        </p:txBody>
      </p:sp>
      <p:pic>
        <p:nvPicPr>
          <p:cNvPr id="8" name="Picture 7" descr="Dataset insights and analytics dashboard"/>
          <p:cNvPicPr>
            <a:picLocks noChangeAspect="1"/>
          </p:cNvPicPr>
          <p:nvPr/>
        </p:nvPicPr>
        <p:blipFill>
          <a:blip r:embed="rId4"/>
          <a:stretch>
            <a:fillRect/>
          </a:stretch>
        </p:blipFill>
        <p:spPr>
          <a:xfrm>
            <a:off x="2118710" y="5989320"/>
            <a:ext cx="5272338" cy="2971800"/>
          </a:xfrm>
          <a:prstGeom prst="rect">
            <a:avLst/>
          </a:prstGeom>
        </p:spPr>
      </p:pic>
      <p:sp>
        <p:nvSpPr>
          <p:cNvPr id="9" name="TextBox 8"/>
          <p:cNvSpPr txBox="1"/>
          <p:nvPr/>
        </p:nvSpPr>
        <p:spPr>
          <a:xfrm>
            <a:off x="1828800" y="8979408"/>
            <a:ext cx="5852160" cy="457200"/>
          </a:xfrm>
          <a:prstGeom prst="rect">
            <a:avLst/>
          </a:prstGeom>
          <a:noFill/>
        </p:spPr>
        <p:txBody>
          <a:bodyPr wrap="square"/>
          <a:lstStyle/>
          <a:p>
            <a:pPr marL="0" indent="0" algn="ctr">
              <a:spcBef>
                <a:spcPts val="900"/>
              </a:spcBef>
              <a:buNone/>
            </a:pPr>
            <a:r>
              <a:rPr lang="en-IN" sz="2000" i="1" dirty="0">
                <a:latin typeface="Times New Roman"/>
                <a:cs typeface="Times New Roman"/>
              </a:rPr>
              <a:t>Dataset insights and analytics</a:t>
            </a:r>
          </a:p>
        </p:txBody>
      </p:sp>
      <p:pic>
        <p:nvPicPr>
          <p:cNvPr id="10" name="Picture 9" descr="Model architecture and benchmark"/>
          <p:cNvPicPr>
            <a:picLocks noChangeAspect="1"/>
          </p:cNvPicPr>
          <p:nvPr/>
        </p:nvPicPr>
        <p:blipFill>
          <a:blip r:embed="rId5"/>
          <a:stretch>
            <a:fillRect/>
          </a:stretch>
        </p:blipFill>
        <p:spPr>
          <a:xfrm>
            <a:off x="10505615" y="5989320"/>
            <a:ext cx="5506369" cy="2971800"/>
          </a:xfrm>
          <a:prstGeom prst="rect">
            <a:avLst/>
          </a:prstGeom>
        </p:spPr>
      </p:pic>
      <p:sp>
        <p:nvSpPr>
          <p:cNvPr id="11" name="TextBox 10"/>
          <p:cNvSpPr txBox="1"/>
          <p:nvPr/>
        </p:nvSpPr>
        <p:spPr>
          <a:xfrm>
            <a:off x="10332720" y="8979408"/>
            <a:ext cx="5852160" cy="457200"/>
          </a:xfrm>
          <a:prstGeom prst="rect">
            <a:avLst/>
          </a:prstGeom>
          <a:noFill/>
        </p:spPr>
        <p:txBody>
          <a:bodyPr wrap="square"/>
          <a:lstStyle/>
          <a:p>
            <a:pPr marL="0" indent="0" algn="ctr">
              <a:spcBef>
                <a:spcPts val="900"/>
              </a:spcBef>
              <a:buNone/>
            </a:pPr>
            <a:r>
              <a:rPr lang="en-IN" sz="2000" i="1" dirty="0">
                <a:latin typeface="Times New Roman"/>
                <a:cs typeface="Times New Roman"/>
              </a:rPr>
              <a:t>Model benchmark</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637996" rIns="0" bIns="0" rtlCol="0">
            <a:spAutoFit/>
          </a:bodyPr>
          <a:lstStyle/>
          <a:p>
            <a:pPr marL="2799080">
              <a:lnSpc>
                <a:spcPct val="100000"/>
              </a:lnSpc>
              <a:spcBef>
                <a:spcPts val="100"/>
              </a:spcBef>
            </a:pPr>
            <a:r>
              <a:rPr lang="en-IN" spc="-10" dirty="0"/>
              <a:t>Conclusion</a:t>
            </a:r>
          </a:p>
        </p:txBody>
      </p:sp>
      <p:sp>
        <p:nvSpPr>
          <p:cNvPr id="3" name="object 3"/>
          <p:cNvSpPr txBox="1"/>
          <p:nvPr/>
        </p:nvSpPr>
        <p:spPr>
          <a:xfrm>
            <a:off x="1981200" y="2400300"/>
            <a:ext cx="14505941" cy="3459922"/>
          </a:xfrm>
          <a:prstGeom prst="rect">
            <a:avLst/>
          </a:prstGeom>
        </p:spPr>
        <p:txBody>
          <a:bodyPr vert="horz" wrap="square" lIns="0" tIns="12700" rIns="0" bIns="0" rtlCol="0">
            <a:spAutoFit/>
          </a:bodyPr>
          <a:lstStyle/>
          <a:p>
            <a:pPr marL="514350" indent="-514350" algn="just">
              <a:buFont typeface="Arial" panose="020B0604020202020204" pitchFamily="34" charset="0"/>
              <a:buChar char="•"/>
            </a:pPr>
            <a:r>
              <a:rPr lang="en-IN" sz="3200" dirty="0" err="1">
                <a:latin typeface="Times New Roman" panose="02020603050405020304" pitchFamily="18" charset="0"/>
                <a:cs typeface="Times New Roman" panose="02020603050405020304" pitchFamily="18" charset="0"/>
              </a:rPr>
              <a:t>BusCast</a:t>
            </a:r>
            <a:r>
              <a:rPr lang="en-IN" sz="3200" dirty="0">
                <a:latin typeface="Times New Roman" panose="02020603050405020304" pitchFamily="18" charset="0"/>
                <a:cs typeface="Times New Roman" panose="02020603050405020304" pitchFamily="18" charset="0"/>
              </a:rPr>
              <a:t> shows that machine learning can make bus planning more responsive to real passenger demand. </a:t>
            </a:r>
          </a:p>
          <a:p>
            <a:pPr marL="514350" indent="-514350" algn="just">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It forecasts passenger load from trip history, weather, holidays, and calendar patterns, and groups the result into Low, Medium, or High demand with a matching dispatch recommendation. </a:t>
            </a:r>
          </a:p>
          <a:p>
            <a:pPr marL="514350" indent="-514350" algn="just">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Through its Flask API and interactive dashboard, transit authorities can adjust headways and allocate buses using data instead of fixed timetables.</a:t>
            </a:r>
          </a:p>
        </p:txBody>
      </p:sp>
      <p:sp>
        <p:nvSpPr>
          <p:cNvPr id="4" name="TextBox 3">
            <a:extLst>
              <a:ext uri="{FF2B5EF4-FFF2-40B4-BE49-F238E27FC236}">
                <a16:creationId xmlns:a16="http://schemas.microsoft.com/office/drawing/2014/main" id="{A4A756F6-BFC0-DF04-12AA-48C1124749DE}"/>
              </a:ext>
            </a:extLst>
          </p:cNvPr>
          <p:cNvSpPr txBox="1"/>
          <p:nvPr/>
        </p:nvSpPr>
        <p:spPr>
          <a:xfrm>
            <a:off x="929148" y="9483213"/>
            <a:ext cx="1264449" cy="646331"/>
          </a:xfrm>
          <a:prstGeom prst="rect">
            <a:avLst/>
          </a:prstGeom>
          <a:noFill/>
        </p:spPr>
        <p:txBody>
          <a:bodyPr wrap="none" rtlCol="0">
            <a:spAutoFit/>
          </a:bodyPr>
          <a:lstStyle/>
          <a:p>
            <a:r>
              <a:rPr lang="en-IN" dirty="0">
                <a:solidFill>
                  <a:srgbClr val="898989"/>
                </a:solidFill>
                <a:latin typeface="Calibri"/>
                <a:cs typeface="Calibri"/>
              </a:rPr>
              <a:t>28-10</a:t>
            </a:r>
            <a:r>
              <a:rPr lang="en-IN" sz="1800" dirty="0">
                <a:solidFill>
                  <a:srgbClr val="898989"/>
                </a:solidFill>
                <a:latin typeface="Calibri"/>
                <a:cs typeface="Calibri"/>
              </a:rPr>
              <a:t>-</a:t>
            </a:r>
            <a:r>
              <a:rPr lang="en-IN" sz="1800" spc="-20" dirty="0">
                <a:solidFill>
                  <a:srgbClr val="898989"/>
                </a:solidFill>
                <a:latin typeface="Calibri"/>
                <a:cs typeface="Calibri"/>
              </a:rPr>
              <a:t>2026</a:t>
            </a:r>
            <a:endParaRPr lang="en-IN" sz="1800" dirty="0">
              <a:latin typeface="Calibri"/>
              <a:cs typeface="Calibri"/>
            </a:endParaRPr>
          </a:p>
          <a:p>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214526" y="4018493"/>
            <a:ext cx="11141075" cy="2608580"/>
          </a:xfrm>
          <a:prstGeom prst="rect">
            <a:avLst/>
          </a:prstGeom>
        </p:spPr>
        <p:txBody>
          <a:bodyPr vert="horz" wrap="square" lIns="0" tIns="12065" rIns="0" bIns="0" rtlCol="0">
            <a:spAutoFit/>
          </a:bodyPr>
          <a:lstStyle/>
          <a:p>
            <a:pPr marL="12700">
              <a:lnSpc>
                <a:spcPct val="100000"/>
              </a:lnSpc>
              <a:spcBef>
                <a:spcPts val="95"/>
              </a:spcBef>
            </a:pPr>
            <a:r>
              <a:rPr sz="16950" b="0" dirty="0">
                <a:solidFill>
                  <a:srgbClr val="000000"/>
                </a:solidFill>
                <a:latin typeface="Calibri"/>
                <a:cs typeface="Calibri"/>
              </a:rPr>
              <a:t>THANK</a:t>
            </a:r>
            <a:r>
              <a:rPr sz="16950" b="0" spc="-490" dirty="0">
                <a:solidFill>
                  <a:srgbClr val="000000"/>
                </a:solidFill>
                <a:latin typeface="Calibri"/>
                <a:cs typeface="Calibri"/>
              </a:rPr>
              <a:t> </a:t>
            </a:r>
            <a:r>
              <a:rPr sz="16950" b="0" spc="-440" dirty="0">
                <a:solidFill>
                  <a:srgbClr val="000000"/>
                </a:solidFill>
                <a:latin typeface="Calibri"/>
                <a:cs typeface="Calibri"/>
              </a:rPr>
              <a:t>Y</a:t>
            </a:r>
            <a:r>
              <a:rPr sz="16950" b="0" spc="120" dirty="0">
                <a:solidFill>
                  <a:srgbClr val="000000"/>
                </a:solidFill>
                <a:latin typeface="Calibri"/>
                <a:cs typeface="Calibri"/>
              </a:rPr>
              <a:t>OU!</a:t>
            </a:r>
            <a:endParaRPr sz="1695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61</TotalTime>
  <Words>1164</Words>
  <Application>Microsoft Office PowerPoint</Application>
  <PresentationFormat>Custom</PresentationFormat>
  <Paragraphs>130</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Department of Computer Science and Engineering</vt:lpstr>
      <vt:lpstr>    </vt:lpstr>
      <vt:lpstr>Abstract</vt:lpstr>
      <vt:lpstr> The Challenge</vt:lpstr>
      <vt:lpstr> Existing System &amp; Limitations</vt:lpstr>
      <vt:lpstr> Proposed Solution</vt:lpstr>
      <vt:lpstr>System Architecture And Workflow</vt:lpstr>
      <vt:lpstr> Data Sources, Preprocessing &amp; EDA</vt:lpstr>
      <vt:lpstr> Feature Engineering &amp; Training</vt:lpstr>
      <vt:lpstr>Technology Used </vt:lpstr>
      <vt:lpstr> Important Features &amp; End Users</vt:lpstr>
      <vt:lpstr> Results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Template.pptx</dc:title>
  <dc:creator>HARI VIGNESH S CSE</dc:creator>
  <cp:keywords>DAHPR9nhMbE,BAFNma9oQZU</cp:keywords>
  <cp:lastModifiedBy>tkavinprakash@outlook.com</cp:lastModifiedBy>
  <cp:revision>5</cp:revision>
  <dcterms:created xsi:type="dcterms:W3CDTF">2026-07-21T04:05:46Z</dcterms:created>
  <dcterms:modified xsi:type="dcterms:W3CDTF">2026-10-28T04:17:59Z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2026-07-13T00:00:00Z</vt:filetime>
  </property>
  <property fmtid="{D5CDD505-2E9C-101B-9397-08002B2CF9AE}" pid="4" name="Creator">
    <vt:lpwstr>Canva</vt:lpwstr>
  </property>
  <property fmtid="{D5CDD505-2E9C-101B-9397-08002B2CF9AE}" pid="5" name="LastSaved">
    <vt:filetime>2026-07-21T00:00:00Z</vt:filetime>
  </property>
  <property fmtid="{D5CDD505-2E9C-101B-9397-08002B2CF9AE}" pid="6" name="Producer">
    <vt:lpwstr>Canva</vt:lpwstr>
  </property>
</Properties>
</file>